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9" r:id="rId4"/>
    <p:sldId id="258" r:id="rId5"/>
    <p:sldId id="260" r:id="rId6"/>
    <p:sldId id="261" r:id="rId7"/>
    <p:sldId id="262" r:id="rId8"/>
    <p:sldId id="263" r:id="rId9"/>
  </p:sldIdLst>
  <p:sldSz cx="12192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3E50"/>
    <a:srgbClr val="4C9BE8"/>
    <a:srgbClr val="448CE8"/>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996" y="84"/>
      </p:cViewPr>
      <p:guideLst>
        <p:guide pos="240"/>
        <p:guide orient="horz"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6842" y="2745349"/>
            <a:ext cx="12195668" cy="2438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65759" y="2888488"/>
            <a:ext cx="11471565" cy="2319129"/>
          </a:xfrm>
        </p:spPr>
        <p:txBody>
          <a:bodyPr tIns="45720" bIns="45720" anchor="ctr">
            <a:normAutofit/>
          </a:bodyPr>
          <a:lstStyle>
            <a:lvl1pPr algn="ctr">
              <a:lnSpc>
                <a:spcPct val="80000"/>
              </a:lnSpc>
              <a:defRPr sz="8000" spc="0" baseline="0"/>
            </a:lvl1pPr>
          </a:lstStyle>
          <a:p>
            <a:r>
              <a:rPr lang="en-US"/>
              <a:t>Click to edit Master title style</a:t>
            </a:r>
            <a:endParaRPr lang="en-US" dirty="0"/>
          </a:p>
        </p:txBody>
      </p:sp>
      <p:sp>
        <p:nvSpPr>
          <p:cNvPr id="3" name="Subtitle 2"/>
          <p:cNvSpPr>
            <a:spLocks noGrp="1"/>
          </p:cNvSpPr>
          <p:nvPr>
            <p:ph type="subTitle" idx="1"/>
          </p:nvPr>
        </p:nvSpPr>
        <p:spPr>
          <a:xfrm>
            <a:off x="1524000" y="5293754"/>
            <a:ext cx="9144000" cy="1745673"/>
          </a:xfrm>
        </p:spPr>
        <p:txBody>
          <a:bodyPr>
            <a:normAutofit/>
          </a:bodyPr>
          <a:lstStyle>
            <a:lvl1pPr marL="0" indent="0" algn="ctr">
              <a:buNone/>
              <a:defRPr sz="2667"/>
            </a:lvl1pPr>
            <a:lvl2pPr marL="609585" indent="0" algn="ctr">
              <a:buNone/>
              <a:defRPr sz="2667"/>
            </a:lvl2pPr>
            <a:lvl3pPr marL="1219170" indent="0" algn="ctr">
              <a:buNone/>
              <a:defRPr sz="2667"/>
            </a:lvl3pPr>
            <a:lvl4pPr marL="1828754" indent="0" algn="ctr">
              <a:buNone/>
              <a:defRPr sz="2667"/>
            </a:lvl4pPr>
            <a:lvl5pPr marL="2438339" indent="0" algn="ctr">
              <a:buNone/>
              <a:defRPr sz="2667"/>
            </a:lvl5pPr>
            <a:lvl6pPr marL="3047924" indent="0" algn="ctr">
              <a:buNone/>
              <a:defRPr sz="2667"/>
            </a:lvl6pPr>
            <a:lvl7pPr marL="3657509" indent="0" algn="ctr">
              <a:buNone/>
              <a:defRPr sz="2667"/>
            </a:lvl7pPr>
            <a:lvl8pPr marL="4267093" indent="0" algn="ctr">
              <a:buNone/>
              <a:defRPr sz="2667"/>
            </a:lvl8pPr>
            <a:lvl9pPr marL="4876678" indent="0" algn="ctr">
              <a:buNone/>
              <a:defRPr sz="266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84D296-4F41-4611-B48D-4B703A1ACA5E}" type="datetimeFigureOut">
              <a:rPr lang="fr-FR" smtClean="0"/>
              <a:t>18/11/2025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2123214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84D296-4F41-4611-B48D-4B703A1ACA5E}" type="datetimeFigureOut">
              <a:rPr lang="fr-FR" smtClean="0"/>
              <a:t>18/11/2025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28558259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842" y="2745349"/>
            <a:ext cx="12195668" cy="24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191" y="2945172"/>
            <a:ext cx="10515600" cy="2235200"/>
          </a:xfrm>
        </p:spPr>
        <p:txBody>
          <a:bodyPr anchor="ctr">
            <a:noAutofit/>
          </a:bodyPr>
          <a:lstStyle>
            <a:lvl1pPr algn="ctr">
              <a:lnSpc>
                <a:spcPct val="80000"/>
              </a:lnSpc>
              <a:defRPr sz="8000" b="0" spc="0" baseline="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833191" y="5312534"/>
            <a:ext cx="10515600" cy="1566185"/>
          </a:xfrm>
        </p:spPr>
        <p:txBody>
          <a:bodyPr anchor="t">
            <a:normAutofit/>
          </a:bodyPr>
          <a:lstStyle>
            <a:lvl1pPr marL="0" indent="0" algn="ctr">
              <a:buNone/>
              <a:defRPr sz="2667">
                <a:solidFill>
                  <a:schemeClr val="tx2"/>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2C84D296-4F41-4611-B48D-4B703A1ACA5E}" type="datetimeFigureOut">
              <a:rPr lang="fr-FR" smtClean="0"/>
              <a:t>18/11/2025</a:t>
            </a:fld>
            <a:endParaRPr lang="fr-FR"/>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864FF9B7-29B4-4A45-B7BC-700D761251C9}" type="slidenum">
              <a:rPr lang="fr-FR" smtClean="0"/>
              <a:t>‹#›</a:t>
            </a:fld>
            <a:endParaRPr lang="fr-FR"/>
          </a:p>
        </p:txBody>
      </p:sp>
    </p:spTree>
    <p:extLst>
      <p:ext uri="{BB962C8B-B14F-4D97-AF65-F5344CB8AC3E}">
        <p14:creationId xmlns:p14="http://schemas.microsoft.com/office/powerpoint/2010/main" val="84156370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4396" y="2682240"/>
            <a:ext cx="4876800" cy="5608320"/>
          </a:xfrm>
        </p:spPr>
        <p:txBody>
          <a:bodyPr/>
          <a:lstStyle>
            <a:lvl1pPr>
              <a:defRPr sz="2933"/>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00800" y="2682240"/>
            <a:ext cx="4876800" cy="5608320"/>
          </a:xfrm>
        </p:spPr>
        <p:txBody>
          <a:bodyPr/>
          <a:lstStyle>
            <a:lvl1pPr>
              <a:defRPr sz="2933"/>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84D296-4F41-4611-B48D-4B703A1ACA5E}" type="datetimeFigureOut">
              <a:rPr lang="fr-FR" smtClean="0"/>
              <a:t>18/11/2025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1458581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14400" y="2551293"/>
            <a:ext cx="4876800" cy="990792"/>
          </a:xfrm>
        </p:spPr>
        <p:txBody>
          <a:bodyPr anchor="ctr">
            <a:normAutofit/>
          </a:bodyPr>
          <a:lstStyle>
            <a:lvl1pPr marL="0" indent="0">
              <a:buNone/>
              <a:defRPr sz="2667"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4" name="Content Placeholder 3"/>
          <p:cNvSpPr>
            <a:spLocks noGrp="1"/>
          </p:cNvSpPr>
          <p:nvPr>
            <p:ph sz="half" idx="2"/>
          </p:nvPr>
        </p:nvSpPr>
        <p:spPr>
          <a:xfrm>
            <a:off x="914400" y="3542088"/>
            <a:ext cx="4876800" cy="4754880"/>
          </a:xfrm>
        </p:spPr>
        <p:txBody>
          <a:bodyPr/>
          <a:lstStyle>
            <a:lvl1pPr>
              <a:defRPr sz="2933"/>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571" y="2551293"/>
            <a:ext cx="4876800" cy="990792"/>
          </a:xfrm>
        </p:spPr>
        <p:txBody>
          <a:bodyPr anchor="ctr">
            <a:normAutofit/>
          </a:bodyPr>
          <a:lstStyle>
            <a:lvl1pPr marL="0" indent="0">
              <a:buNone/>
              <a:defRPr sz="2667"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Master text styles</a:t>
            </a:r>
          </a:p>
        </p:txBody>
      </p:sp>
      <p:sp>
        <p:nvSpPr>
          <p:cNvPr id="6" name="Content Placeholder 5"/>
          <p:cNvSpPr>
            <a:spLocks noGrp="1"/>
          </p:cNvSpPr>
          <p:nvPr>
            <p:ph sz="quarter" idx="4"/>
          </p:nvPr>
        </p:nvSpPr>
        <p:spPr>
          <a:xfrm>
            <a:off x="6400571" y="3542085"/>
            <a:ext cx="4876800" cy="4754880"/>
          </a:xfrm>
        </p:spPr>
        <p:txBody>
          <a:bodyPr/>
          <a:lstStyle>
            <a:lvl1pPr>
              <a:defRPr sz="2933"/>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84D296-4F41-4611-B48D-4B703A1ACA5E}" type="datetimeFigureOut">
              <a:rPr lang="fr-FR" smtClean="0"/>
              <a:t>18/11/2025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2214254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84D296-4F41-4611-B48D-4B703A1ACA5E}" type="datetimeFigureOut">
              <a:rPr lang="fr-FR" smtClean="0"/>
              <a:t>18/11/2025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4045498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84D296-4F41-4611-B48D-4B703A1ACA5E}" type="datetimeFigureOut">
              <a:rPr lang="fr-FR" smtClean="0"/>
              <a:t>18/11/2025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1670177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914400" y="2865120"/>
            <a:ext cx="6096000" cy="5120640"/>
          </a:xfrm>
        </p:spPr>
        <p:txBody>
          <a:bodyPr/>
          <a:lstStyle>
            <a:lvl1pPr>
              <a:defRPr sz="2933"/>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856757" y="2863317"/>
            <a:ext cx="3413760" cy="4576425"/>
          </a:xfrm>
        </p:spPr>
        <p:txBody>
          <a:bodyPr>
            <a:normAutofit/>
          </a:bodyPr>
          <a:lstStyle>
            <a:lvl1pPr marL="0" indent="0">
              <a:lnSpc>
                <a:spcPct val="95000"/>
              </a:lnSpc>
              <a:buNone/>
              <a:defRPr sz="22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2C84D296-4F41-4611-B48D-4B703A1ACA5E}" type="datetimeFigureOut">
              <a:rPr lang="fr-FR" smtClean="0"/>
              <a:t>18/11/2025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363181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Picture Placeholder 2"/>
          <p:cNvSpPr>
            <a:spLocks noGrp="1" noChangeAspect="1"/>
          </p:cNvSpPr>
          <p:nvPr>
            <p:ph type="pic" idx="1"/>
          </p:nvPr>
        </p:nvSpPr>
        <p:spPr>
          <a:xfrm>
            <a:off x="914400" y="2948659"/>
            <a:ext cx="6339840" cy="5120640"/>
          </a:xfrm>
          <a:solidFill>
            <a:schemeClr val="tx2">
              <a:lumMod val="60000"/>
              <a:lumOff val="40000"/>
            </a:schemeClr>
          </a:solidFill>
        </p:spPr>
        <p:txBody>
          <a:bodyPr tIns="365760" anchor="t"/>
          <a:lstStyle>
            <a:lvl1pPr marL="0" indent="0" algn="ctr">
              <a:buNone/>
              <a:defRPr sz="4267">
                <a:solidFill>
                  <a:schemeClr val="tx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7847135" y="2867495"/>
            <a:ext cx="3413760" cy="4572000"/>
          </a:xfrm>
        </p:spPr>
        <p:txBody>
          <a:bodyPr>
            <a:normAutofit/>
          </a:bodyPr>
          <a:lstStyle>
            <a:lvl1pPr marL="0" indent="0">
              <a:lnSpc>
                <a:spcPct val="95000"/>
              </a:lnSpc>
              <a:buNone/>
              <a:defRPr sz="22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2C84D296-4F41-4611-B48D-4B703A1ACA5E}" type="datetimeFigureOut">
              <a:rPr lang="fr-FR" smtClean="0"/>
              <a:t>18/11/2025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374648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84D296-4F41-4611-B48D-4B703A1ACA5E}" type="datetimeFigureOut">
              <a:rPr lang="fr-FR" smtClean="0"/>
              <a:t>18/11/2025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178638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9019312" y="0"/>
            <a:ext cx="2743200" cy="914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9160625" y="812800"/>
            <a:ext cx="2402380" cy="7518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812800"/>
            <a:ext cx="7973291" cy="7518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8563808"/>
            <a:ext cx="2743196" cy="486833"/>
          </a:xfrm>
        </p:spPr>
        <p:txBody>
          <a:bodyPr/>
          <a:lstStyle/>
          <a:p>
            <a:fld id="{2C84D296-4F41-4611-B48D-4B703A1ACA5E}" type="datetimeFigureOut">
              <a:rPr lang="fr-FR" smtClean="0"/>
              <a:t>18/11/2025</a:t>
            </a:fld>
            <a:endParaRPr lang="fr-FR"/>
          </a:p>
        </p:txBody>
      </p:sp>
      <p:sp>
        <p:nvSpPr>
          <p:cNvPr id="5" name="Footer Placeholder 4"/>
          <p:cNvSpPr>
            <a:spLocks noGrp="1"/>
          </p:cNvSpPr>
          <p:nvPr>
            <p:ph type="ftr" sz="quarter" idx="11"/>
          </p:nvPr>
        </p:nvSpPr>
        <p:spPr>
          <a:xfrm>
            <a:off x="3776136" y="8563808"/>
            <a:ext cx="4279669" cy="486833"/>
          </a:xfrm>
        </p:spPr>
        <p:txBody>
          <a:bodyPr/>
          <a:lstStyle/>
          <a:p>
            <a:endParaRPr lang="fr-FR"/>
          </a:p>
        </p:txBody>
      </p:sp>
      <p:sp>
        <p:nvSpPr>
          <p:cNvPr id="6" name="Slide Number Placeholder 5"/>
          <p:cNvSpPr>
            <a:spLocks noGrp="1"/>
          </p:cNvSpPr>
          <p:nvPr>
            <p:ph type="sldNum" sz="quarter" idx="12"/>
          </p:nvPr>
        </p:nvSpPr>
        <p:spPr>
          <a:xfrm>
            <a:off x="8073050" y="8563808"/>
            <a:ext cx="879759" cy="486833"/>
          </a:xfrm>
        </p:spPr>
        <p:txBody>
          <a:bodyPr/>
          <a:lstStyle/>
          <a:p>
            <a:fld id="{864FF9B7-29B4-4A45-B7BC-700D761251C9}" type="slidenum">
              <a:rPr lang="fr-FR" smtClean="0"/>
              <a:t>‹#›</a:t>
            </a:fld>
            <a:endParaRPr lang="fr-FR"/>
          </a:p>
        </p:txBody>
      </p:sp>
    </p:spTree>
    <p:extLst>
      <p:ext uri="{BB962C8B-B14F-4D97-AF65-F5344CB8AC3E}">
        <p14:creationId xmlns:p14="http://schemas.microsoft.com/office/powerpoint/2010/main" val="541808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483" y="234813"/>
            <a:ext cx="12188952" cy="21945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13359" y="378901"/>
            <a:ext cx="10363200" cy="20116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359" y="2682240"/>
            <a:ext cx="10363200" cy="56083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08744" y="8563808"/>
            <a:ext cx="3460057" cy="486833"/>
          </a:xfrm>
          <a:prstGeom prst="rect">
            <a:avLst/>
          </a:prstGeom>
        </p:spPr>
        <p:txBody>
          <a:bodyPr vert="horz" lIns="91440" tIns="45720" rIns="45720" bIns="45720" rtlCol="0" anchor="ctr"/>
          <a:lstStyle>
            <a:lvl1pPr algn="l">
              <a:defRPr sz="1400">
                <a:solidFill>
                  <a:schemeClr val="tx1"/>
                </a:solidFill>
              </a:defRPr>
            </a:lvl1pPr>
          </a:lstStyle>
          <a:p>
            <a:fld id="{2C84D296-4F41-4611-B48D-4B703A1ACA5E}" type="datetimeFigureOut">
              <a:rPr lang="fr-FR" smtClean="0"/>
              <a:t>18/11/2025</a:t>
            </a:fld>
            <a:endParaRPr lang="fr-FR"/>
          </a:p>
        </p:txBody>
      </p:sp>
      <p:sp>
        <p:nvSpPr>
          <p:cNvPr id="5" name="Footer Placeholder 4"/>
          <p:cNvSpPr>
            <a:spLocks noGrp="1"/>
          </p:cNvSpPr>
          <p:nvPr>
            <p:ph type="ftr" sz="quarter" idx="3"/>
          </p:nvPr>
        </p:nvSpPr>
        <p:spPr>
          <a:xfrm>
            <a:off x="5588001" y="8563808"/>
            <a:ext cx="5414169" cy="486833"/>
          </a:xfrm>
          <a:prstGeom prst="rect">
            <a:avLst/>
          </a:prstGeom>
        </p:spPr>
        <p:txBody>
          <a:bodyPr vert="horz" lIns="91440" tIns="45720" rIns="91440" bIns="45720" rtlCol="0" anchor="ctr"/>
          <a:lstStyle>
            <a:lvl1pPr algn="r">
              <a:defRPr sz="1400">
                <a:solidFill>
                  <a:schemeClr val="tx1"/>
                </a:solidFill>
              </a:defRPr>
            </a:lvl1pPr>
          </a:lstStyle>
          <a:p>
            <a:endParaRPr lang="fr-FR"/>
          </a:p>
        </p:txBody>
      </p:sp>
      <p:sp>
        <p:nvSpPr>
          <p:cNvPr id="6" name="Slide Number Placeholder 5"/>
          <p:cNvSpPr>
            <a:spLocks noGrp="1"/>
          </p:cNvSpPr>
          <p:nvPr>
            <p:ph type="sldNum" sz="quarter" idx="4"/>
          </p:nvPr>
        </p:nvSpPr>
        <p:spPr>
          <a:xfrm>
            <a:off x="11020185" y="8563808"/>
            <a:ext cx="946264" cy="486833"/>
          </a:xfrm>
          <a:prstGeom prst="rect">
            <a:avLst/>
          </a:prstGeom>
        </p:spPr>
        <p:txBody>
          <a:bodyPr vert="horz" lIns="45720" tIns="45720" rIns="91440" bIns="45720" rtlCol="0" anchor="ctr"/>
          <a:lstStyle>
            <a:lvl1pPr algn="l">
              <a:defRPr sz="1600" b="0">
                <a:solidFill>
                  <a:schemeClr val="tx1"/>
                </a:solidFill>
              </a:defRPr>
            </a:lvl1pPr>
          </a:lstStyle>
          <a:p>
            <a:fld id="{864FF9B7-29B4-4A45-B7BC-700D761251C9}" type="slidenum">
              <a:rPr lang="fr-FR" smtClean="0"/>
              <a:t>‹#›</a:t>
            </a:fld>
            <a:endParaRPr lang="fr-FR"/>
          </a:p>
        </p:txBody>
      </p:sp>
    </p:spTree>
    <p:extLst>
      <p:ext uri="{BB962C8B-B14F-4D97-AF65-F5344CB8AC3E}">
        <p14:creationId xmlns:p14="http://schemas.microsoft.com/office/powerpoint/2010/main" val="311652688"/>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1219170" rtl="0" eaLnBrk="1" latinLnBrk="0" hangingPunct="1">
        <a:lnSpc>
          <a:spcPct val="85000"/>
        </a:lnSpc>
        <a:spcBef>
          <a:spcPct val="0"/>
        </a:spcBef>
        <a:buNone/>
        <a:defRPr sz="5333" kern="1200" cap="all" baseline="0">
          <a:solidFill>
            <a:schemeClr val="bg2"/>
          </a:solidFill>
          <a:latin typeface="+mj-lt"/>
          <a:ea typeface="+mj-ea"/>
          <a:cs typeface="+mj-cs"/>
        </a:defRPr>
      </a:lvl1pPr>
    </p:titleStyle>
    <p:bodyStyle>
      <a:lvl1pPr marL="243834" indent="-243834" algn="l" defTabSz="1219170" rtl="0" eaLnBrk="1" latinLnBrk="0" hangingPunct="1">
        <a:lnSpc>
          <a:spcPct val="90000"/>
        </a:lnSpc>
        <a:spcBef>
          <a:spcPts val="1600"/>
        </a:spcBef>
        <a:spcAft>
          <a:spcPts val="267"/>
        </a:spcAft>
        <a:buClr>
          <a:schemeClr val="tx1"/>
        </a:buClr>
        <a:buFont typeface="Wingdings" pitchFamily="2" charset="2"/>
        <a:buChar char=""/>
        <a:defRPr sz="2933" kern="1200">
          <a:solidFill>
            <a:schemeClr val="tx1"/>
          </a:solidFill>
          <a:latin typeface="+mn-lt"/>
          <a:ea typeface="+mn-ea"/>
          <a:cs typeface="+mn-cs"/>
        </a:defRPr>
      </a:lvl1pPr>
      <a:lvl2pPr marL="548626" indent="-243834" algn="l" defTabSz="1219170" rtl="0" eaLnBrk="1" latinLnBrk="0" hangingPunct="1">
        <a:lnSpc>
          <a:spcPct val="90000"/>
        </a:lnSpc>
        <a:spcBef>
          <a:spcPts val="267"/>
        </a:spcBef>
        <a:spcAft>
          <a:spcPts val="533"/>
        </a:spcAft>
        <a:buClr>
          <a:schemeClr val="tx1"/>
        </a:buClr>
        <a:buFont typeface="Wingdings" pitchFamily="2" charset="2"/>
        <a:buChar char=""/>
        <a:defRPr sz="2667" kern="1200">
          <a:solidFill>
            <a:schemeClr val="tx1"/>
          </a:solidFill>
          <a:latin typeface="+mn-lt"/>
          <a:ea typeface="+mn-ea"/>
          <a:cs typeface="+mn-cs"/>
        </a:defRPr>
      </a:lvl2pPr>
      <a:lvl3pPr marL="853419" indent="-243834" algn="l" defTabSz="1219170" rtl="0" eaLnBrk="1" latinLnBrk="0" hangingPunct="1">
        <a:lnSpc>
          <a:spcPct val="90000"/>
        </a:lnSpc>
        <a:spcBef>
          <a:spcPts val="267"/>
        </a:spcBef>
        <a:spcAft>
          <a:spcPts val="533"/>
        </a:spcAft>
        <a:buClr>
          <a:schemeClr val="tx1"/>
        </a:buClr>
        <a:buFont typeface="Wingdings" pitchFamily="2" charset="2"/>
        <a:buChar char=""/>
        <a:defRPr sz="2400" kern="1200">
          <a:solidFill>
            <a:schemeClr val="tx1"/>
          </a:solidFill>
          <a:latin typeface="+mn-lt"/>
          <a:ea typeface="+mn-ea"/>
          <a:cs typeface="+mn-cs"/>
        </a:defRPr>
      </a:lvl3pPr>
      <a:lvl4pPr marL="1158211" indent="-243834" algn="l" defTabSz="1219170" rtl="0" eaLnBrk="1" latinLnBrk="0" hangingPunct="1">
        <a:lnSpc>
          <a:spcPct val="90000"/>
        </a:lnSpc>
        <a:spcBef>
          <a:spcPts val="267"/>
        </a:spcBef>
        <a:spcAft>
          <a:spcPts val="533"/>
        </a:spcAft>
        <a:buClr>
          <a:schemeClr val="tx1"/>
        </a:buClr>
        <a:buFont typeface="Wingdings" pitchFamily="2" charset="2"/>
        <a:buChar char=""/>
        <a:defRPr sz="2133" kern="1200">
          <a:solidFill>
            <a:schemeClr val="tx1"/>
          </a:solidFill>
          <a:latin typeface="+mn-lt"/>
          <a:ea typeface="+mn-ea"/>
          <a:cs typeface="+mn-cs"/>
        </a:defRPr>
      </a:lvl4pPr>
      <a:lvl5pPr marL="1463003" indent="-243834" algn="l" defTabSz="1219170" rtl="0" eaLnBrk="1" latinLnBrk="0" hangingPunct="1">
        <a:lnSpc>
          <a:spcPct val="90000"/>
        </a:lnSpc>
        <a:spcBef>
          <a:spcPts val="267"/>
        </a:spcBef>
        <a:spcAft>
          <a:spcPts val="533"/>
        </a:spcAft>
        <a:buClr>
          <a:schemeClr val="tx1"/>
        </a:buClr>
        <a:buFont typeface="Wingdings" pitchFamily="2" charset="2"/>
        <a:buChar char=""/>
        <a:defRPr sz="2133" kern="1200">
          <a:solidFill>
            <a:schemeClr val="tx1"/>
          </a:solidFill>
          <a:latin typeface="+mn-lt"/>
          <a:ea typeface="+mn-ea"/>
          <a:cs typeface="+mn-cs"/>
        </a:defRPr>
      </a:lvl5pPr>
      <a:lvl6pPr marL="1712757" indent="-304792" algn="l" defTabSz="1219170" rtl="0" eaLnBrk="1" latinLnBrk="0" hangingPunct="1">
        <a:lnSpc>
          <a:spcPct val="90000"/>
        </a:lnSpc>
        <a:spcBef>
          <a:spcPts val="267"/>
        </a:spcBef>
        <a:spcAft>
          <a:spcPts val="533"/>
        </a:spcAft>
        <a:buClr>
          <a:schemeClr val="tx1"/>
        </a:buClr>
        <a:buFont typeface="Wingdings" pitchFamily="2" charset="2"/>
        <a:buChar char=""/>
        <a:defRPr sz="2133" kern="1200">
          <a:solidFill>
            <a:schemeClr val="tx1"/>
          </a:solidFill>
          <a:latin typeface="+mn-lt"/>
          <a:ea typeface="+mn-ea"/>
          <a:cs typeface="+mn-cs"/>
        </a:defRPr>
      </a:lvl6pPr>
      <a:lvl7pPr marL="1962351" indent="-304792" algn="l" defTabSz="1219170" rtl="0" eaLnBrk="1" latinLnBrk="0" hangingPunct="1">
        <a:lnSpc>
          <a:spcPct val="90000"/>
        </a:lnSpc>
        <a:spcBef>
          <a:spcPts val="267"/>
        </a:spcBef>
        <a:spcAft>
          <a:spcPts val="533"/>
        </a:spcAft>
        <a:buClr>
          <a:schemeClr val="tx1"/>
        </a:buClr>
        <a:buFont typeface="Wingdings" pitchFamily="2" charset="2"/>
        <a:buChar char=""/>
        <a:defRPr sz="2133" kern="1200">
          <a:solidFill>
            <a:schemeClr val="tx1"/>
          </a:solidFill>
          <a:latin typeface="+mn-lt"/>
          <a:ea typeface="+mn-ea"/>
          <a:cs typeface="+mn-cs"/>
        </a:defRPr>
      </a:lvl7pPr>
      <a:lvl8pPr marL="2171946" indent="-304792" algn="l" defTabSz="1219170" rtl="0" eaLnBrk="1" latinLnBrk="0" hangingPunct="1">
        <a:lnSpc>
          <a:spcPct val="90000"/>
        </a:lnSpc>
        <a:spcBef>
          <a:spcPts val="267"/>
        </a:spcBef>
        <a:spcAft>
          <a:spcPts val="533"/>
        </a:spcAft>
        <a:buClr>
          <a:schemeClr val="tx1"/>
        </a:buClr>
        <a:buFont typeface="Wingdings" pitchFamily="2" charset="2"/>
        <a:buChar char=""/>
        <a:defRPr sz="2133" kern="1200">
          <a:solidFill>
            <a:schemeClr val="tx1"/>
          </a:solidFill>
          <a:latin typeface="+mn-lt"/>
          <a:ea typeface="+mn-ea"/>
          <a:cs typeface="+mn-cs"/>
        </a:defRPr>
      </a:lvl8pPr>
      <a:lvl9pPr marL="2408206" indent="-304792" algn="l" defTabSz="1219170" rtl="0" eaLnBrk="1" latinLnBrk="0" hangingPunct="1">
        <a:lnSpc>
          <a:spcPct val="90000"/>
        </a:lnSpc>
        <a:spcBef>
          <a:spcPts val="267"/>
        </a:spcBef>
        <a:spcAft>
          <a:spcPts val="533"/>
        </a:spcAft>
        <a:buClr>
          <a:schemeClr val="tx1"/>
        </a:buClr>
        <a:buFont typeface="Wingdings" pitchFamily="2" charset="2"/>
        <a:buChar char=""/>
        <a:defRPr sz="2133"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hyperlink" Target="http://www.gnu.org/licenses/"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25D197-8ABD-4D61-B6C2-E05549A6FF97}"/>
              </a:ext>
            </a:extLst>
          </p:cNvPr>
          <p:cNvSpPr/>
          <p:nvPr/>
        </p:nvSpPr>
        <p:spPr>
          <a:xfrm>
            <a:off x="0" y="225632"/>
            <a:ext cx="12312732" cy="486887"/>
          </a:xfrm>
          <a:prstGeom prst="rect">
            <a:avLst/>
          </a:prstGeom>
          <a:gradFill flip="none" rotWithShape="1">
            <a:gsLst>
              <a:gs pos="62000">
                <a:srgbClr val="68C3F5"/>
              </a:gs>
              <a:gs pos="36000">
                <a:srgbClr val="4C9BE8"/>
              </a:gs>
              <a:gs pos="0">
                <a:srgbClr val="2B3E50"/>
              </a:gs>
              <a:gs pos="82000">
                <a:srgbClr val="F3F3F3"/>
              </a:gs>
              <a:gs pos="100000">
                <a:srgbClr val="F3F3F3"/>
              </a:gs>
            </a:gsLst>
            <a:lin ang="108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5">
            <a:extLst>
              <a:ext uri="{FF2B5EF4-FFF2-40B4-BE49-F238E27FC236}">
                <a16:creationId xmlns:a16="http://schemas.microsoft.com/office/drawing/2014/main" id="{0E09D0EC-CE3C-4AD1-B0C2-81D92DA800C8}"/>
              </a:ext>
            </a:extLst>
          </p:cNvPr>
          <p:cNvPicPr>
            <a:picLocks noChangeAspect="1"/>
          </p:cNvPicPr>
          <p:nvPr/>
        </p:nvPicPr>
        <p:blipFill>
          <a:blip r:embed="rId2"/>
          <a:stretch>
            <a:fillRect/>
          </a:stretch>
        </p:blipFill>
        <p:spPr>
          <a:xfrm>
            <a:off x="0" y="225632"/>
            <a:ext cx="331969" cy="486887"/>
          </a:xfrm>
          <a:prstGeom prst="rect">
            <a:avLst/>
          </a:prstGeom>
        </p:spPr>
      </p:pic>
      <p:sp>
        <p:nvSpPr>
          <p:cNvPr id="7" name="TextBox 6">
            <a:extLst>
              <a:ext uri="{FF2B5EF4-FFF2-40B4-BE49-F238E27FC236}">
                <a16:creationId xmlns:a16="http://schemas.microsoft.com/office/drawing/2014/main" id="{D8FF38E6-BB8F-4B3B-8DFF-FE6D420ADF81}"/>
              </a:ext>
            </a:extLst>
          </p:cNvPr>
          <p:cNvSpPr txBox="1"/>
          <p:nvPr/>
        </p:nvSpPr>
        <p:spPr>
          <a:xfrm>
            <a:off x="331969" y="189299"/>
            <a:ext cx="1983719" cy="523220"/>
          </a:xfrm>
          <a:prstGeom prst="rect">
            <a:avLst/>
          </a:prstGeom>
          <a:noFill/>
        </p:spPr>
        <p:txBody>
          <a:bodyPr wrap="square" rtlCol="0">
            <a:spAutoFit/>
          </a:bodyPr>
          <a:lstStyle/>
          <a:p>
            <a:r>
              <a:rPr lang="fr-FR" sz="2800" dirty="0">
                <a:solidFill>
                  <a:schemeClr val="tx1">
                    <a:lumMod val="50000"/>
                  </a:schemeClr>
                </a:solidFill>
              </a:rPr>
              <a:t>pixek</a:t>
            </a:r>
          </a:p>
        </p:txBody>
      </p:sp>
      <p:pic>
        <p:nvPicPr>
          <p:cNvPr id="9" name="Picture 8">
            <a:extLst>
              <a:ext uri="{FF2B5EF4-FFF2-40B4-BE49-F238E27FC236}">
                <a16:creationId xmlns:a16="http://schemas.microsoft.com/office/drawing/2014/main" id="{F39F406A-6B78-4718-B900-0E64186E65DD}"/>
              </a:ext>
            </a:extLst>
          </p:cNvPr>
          <p:cNvPicPr>
            <a:picLocks noChangeAspect="1"/>
          </p:cNvPicPr>
          <p:nvPr/>
        </p:nvPicPr>
        <p:blipFill>
          <a:blip r:embed="rId3"/>
          <a:stretch>
            <a:fillRect/>
          </a:stretch>
        </p:blipFill>
        <p:spPr>
          <a:xfrm>
            <a:off x="2984664" y="3045665"/>
            <a:ext cx="6222671" cy="3757677"/>
          </a:xfrm>
          <a:prstGeom prst="rect">
            <a:avLst/>
          </a:prstGeom>
        </p:spPr>
      </p:pic>
      <p:sp>
        <p:nvSpPr>
          <p:cNvPr id="10" name="TextBox 9">
            <a:extLst>
              <a:ext uri="{FF2B5EF4-FFF2-40B4-BE49-F238E27FC236}">
                <a16:creationId xmlns:a16="http://schemas.microsoft.com/office/drawing/2014/main" id="{9AA47935-6BBF-4F71-ABA8-76C4C75939F0}"/>
              </a:ext>
            </a:extLst>
          </p:cNvPr>
          <p:cNvSpPr txBox="1"/>
          <p:nvPr/>
        </p:nvSpPr>
        <p:spPr>
          <a:xfrm>
            <a:off x="0" y="844368"/>
            <a:ext cx="8443626" cy="2031325"/>
          </a:xfrm>
          <a:prstGeom prst="rect">
            <a:avLst/>
          </a:prstGeom>
          <a:noFill/>
        </p:spPr>
        <p:txBody>
          <a:bodyPr wrap="square" rtlCol="0">
            <a:spAutoFit/>
          </a:bodyPr>
          <a:lstStyle/>
          <a:p>
            <a:pPr marL="0" indent="0">
              <a:buNone/>
              <a:defRPr/>
            </a:pPr>
            <a:r>
              <a:rPr lang="fr-FR" dirty="0">
                <a:solidFill>
                  <a:srgbClr val="2B3E50"/>
                </a:solidFill>
                <a:latin typeface="OpenSans"/>
              </a:rPr>
              <a:t>The PIXEK code </a:t>
            </a:r>
            <a:r>
              <a:rPr lang="fr-FR" dirty="0" err="1">
                <a:solidFill>
                  <a:srgbClr val="2B3E50"/>
                </a:solidFill>
                <a:latin typeface="OpenSans"/>
              </a:rPr>
              <a:t>developed</a:t>
            </a:r>
            <a:r>
              <a:rPr lang="fr-FR" dirty="0">
                <a:solidFill>
                  <a:srgbClr val="2B3E50"/>
                </a:solidFill>
                <a:latin typeface="OpenSans"/>
              </a:rPr>
              <a:t> for PIXE/C </a:t>
            </a:r>
            <a:r>
              <a:rPr lang="fr-FR" dirty="0" err="1">
                <a:solidFill>
                  <a:srgbClr val="2B3E50"/>
                </a:solidFill>
                <a:latin typeface="OpenSans"/>
              </a:rPr>
              <a:t>analysis</a:t>
            </a:r>
            <a:r>
              <a:rPr lang="fr-FR" dirty="0">
                <a:solidFill>
                  <a:srgbClr val="2B3E50"/>
                </a:solidFill>
                <a:latin typeface="OpenSans"/>
              </a:rPr>
              <a:t>:</a:t>
            </a:r>
          </a:p>
          <a:p>
            <a:pPr marL="285750" indent="-285750">
              <a:buFont typeface="Arial" panose="020B0604020202020204" pitchFamily="34" charset="0"/>
              <a:buChar char="•"/>
            </a:pPr>
            <a:r>
              <a:rPr lang="fr-FR" dirty="0">
                <a:solidFill>
                  <a:srgbClr val="2B3E50"/>
                </a:solidFill>
              </a:rPr>
              <a:t>Python-</a:t>
            </a:r>
            <a:r>
              <a:rPr lang="fr-FR" dirty="0" err="1">
                <a:solidFill>
                  <a:srgbClr val="2B3E50"/>
                </a:solidFill>
              </a:rPr>
              <a:t>based</a:t>
            </a:r>
            <a:r>
              <a:rPr lang="fr-FR" dirty="0">
                <a:solidFill>
                  <a:srgbClr val="2B3E50"/>
                </a:solidFill>
              </a:rPr>
              <a:t> code</a:t>
            </a:r>
          </a:p>
          <a:p>
            <a:pPr marL="285750" indent="-285750">
              <a:buFont typeface="Arial" panose="020B0604020202020204" pitchFamily="34" charset="0"/>
              <a:buChar char="•"/>
            </a:pPr>
            <a:r>
              <a:rPr lang="fr-FR" dirty="0" err="1">
                <a:solidFill>
                  <a:srgbClr val="2B3E50"/>
                </a:solidFill>
              </a:rPr>
              <a:t>Wavelet</a:t>
            </a:r>
            <a:r>
              <a:rPr lang="fr-FR" dirty="0">
                <a:solidFill>
                  <a:srgbClr val="2B3E50"/>
                </a:solidFill>
              </a:rPr>
              <a:t> </a:t>
            </a:r>
            <a:r>
              <a:rPr lang="fr-FR" dirty="0" err="1">
                <a:solidFill>
                  <a:srgbClr val="2B3E50"/>
                </a:solidFill>
              </a:rPr>
              <a:t>analysis</a:t>
            </a:r>
            <a:r>
              <a:rPr lang="fr-FR" dirty="0">
                <a:solidFill>
                  <a:srgbClr val="2B3E50"/>
                </a:solidFill>
              </a:rPr>
              <a:t> </a:t>
            </a:r>
            <a:r>
              <a:rPr lang="fr-FR" dirty="0" err="1">
                <a:solidFill>
                  <a:srgbClr val="2B3E50"/>
                </a:solidFill>
              </a:rPr>
              <a:t>is</a:t>
            </a:r>
            <a:r>
              <a:rPr lang="fr-FR" dirty="0">
                <a:solidFill>
                  <a:srgbClr val="2B3E50"/>
                </a:solidFill>
              </a:rPr>
              <a:t> </a:t>
            </a:r>
            <a:r>
              <a:rPr lang="fr-FR" dirty="0" err="1">
                <a:solidFill>
                  <a:srgbClr val="2B3E50"/>
                </a:solidFill>
              </a:rPr>
              <a:t>used</a:t>
            </a:r>
            <a:r>
              <a:rPr lang="fr-FR" dirty="0">
                <a:solidFill>
                  <a:srgbClr val="2B3E50"/>
                </a:solidFill>
              </a:rPr>
              <a:t> for </a:t>
            </a:r>
            <a:r>
              <a:rPr lang="fr-FR" dirty="0" err="1">
                <a:solidFill>
                  <a:srgbClr val="2B3E50"/>
                </a:solidFill>
              </a:rPr>
              <a:t>beckground</a:t>
            </a:r>
            <a:r>
              <a:rPr lang="fr-FR" dirty="0">
                <a:solidFill>
                  <a:srgbClr val="2B3E50"/>
                </a:solidFill>
              </a:rPr>
              <a:t> </a:t>
            </a:r>
            <a:r>
              <a:rPr lang="fr-FR" dirty="0" err="1">
                <a:solidFill>
                  <a:srgbClr val="2B3E50"/>
                </a:solidFill>
              </a:rPr>
              <a:t>reduction</a:t>
            </a:r>
            <a:endParaRPr lang="fr-FR" dirty="0">
              <a:solidFill>
                <a:srgbClr val="2B3E50"/>
              </a:solidFill>
            </a:endParaRPr>
          </a:p>
          <a:p>
            <a:pPr marL="285750" indent="-285750">
              <a:buFont typeface="Arial" panose="020B0604020202020204" pitchFamily="34" charset="0"/>
              <a:buChar char="•"/>
            </a:pPr>
            <a:r>
              <a:rPr lang="en-US" dirty="0">
                <a:solidFill>
                  <a:srgbClr val="2B3E50"/>
                </a:solidFill>
              </a:rPr>
              <a:t>For each spectrum the code provides the intensity of the relevant signal peaks </a:t>
            </a:r>
          </a:p>
          <a:p>
            <a:pPr marL="285750" indent="-285750">
              <a:buFont typeface="Arial" panose="020B0604020202020204" pitchFamily="34" charset="0"/>
              <a:buChar char="•"/>
            </a:pPr>
            <a:r>
              <a:rPr lang="fr-FR" dirty="0">
                <a:solidFill>
                  <a:srgbClr val="2B3E50"/>
                </a:solidFill>
              </a:rPr>
              <a:t>Multiple </a:t>
            </a:r>
            <a:r>
              <a:rPr lang="fr-FR" dirty="0" err="1">
                <a:solidFill>
                  <a:srgbClr val="2B3E50"/>
                </a:solidFill>
              </a:rPr>
              <a:t>spectra</a:t>
            </a:r>
            <a:r>
              <a:rPr lang="fr-FR" dirty="0">
                <a:solidFill>
                  <a:srgbClr val="2B3E50"/>
                </a:solidFill>
              </a:rPr>
              <a:t> can </a:t>
            </a:r>
            <a:r>
              <a:rPr lang="fr-FR" dirty="0" err="1">
                <a:solidFill>
                  <a:srgbClr val="2B3E50"/>
                </a:solidFill>
              </a:rPr>
              <a:t>be</a:t>
            </a:r>
            <a:r>
              <a:rPr lang="fr-FR" dirty="0">
                <a:solidFill>
                  <a:srgbClr val="2B3E50"/>
                </a:solidFill>
              </a:rPr>
              <a:t> </a:t>
            </a:r>
            <a:r>
              <a:rPr lang="fr-FR" dirty="0" err="1">
                <a:solidFill>
                  <a:srgbClr val="2B3E50"/>
                </a:solidFill>
              </a:rPr>
              <a:t>analyzed</a:t>
            </a:r>
            <a:r>
              <a:rPr lang="fr-FR" dirty="0">
                <a:solidFill>
                  <a:srgbClr val="2B3E50"/>
                </a:solidFill>
              </a:rPr>
              <a:t> in the </a:t>
            </a:r>
            <a:r>
              <a:rPr lang="fr-FR" dirty="0" err="1">
                <a:solidFill>
                  <a:srgbClr val="2B3E50"/>
                </a:solidFill>
              </a:rPr>
              <a:t>same</a:t>
            </a:r>
            <a:r>
              <a:rPr lang="fr-FR" dirty="0">
                <a:solidFill>
                  <a:srgbClr val="2B3E50"/>
                </a:solidFill>
              </a:rPr>
              <a:t> time</a:t>
            </a:r>
          </a:p>
          <a:p>
            <a:pPr marL="285750" indent="-285750">
              <a:buFont typeface="Arial" panose="020B0604020202020204" pitchFamily="34" charset="0"/>
              <a:buChar char="•"/>
            </a:pPr>
            <a:r>
              <a:rPr lang="fr-FR" dirty="0">
                <a:solidFill>
                  <a:srgbClr val="2B3E50"/>
                </a:solidFill>
              </a:rPr>
              <a:t>The final </a:t>
            </a:r>
            <a:r>
              <a:rPr lang="fr-FR" dirty="0" err="1">
                <a:solidFill>
                  <a:srgbClr val="2B3E50"/>
                </a:solidFill>
              </a:rPr>
              <a:t>result</a:t>
            </a:r>
            <a:r>
              <a:rPr lang="fr-FR" dirty="0">
                <a:solidFill>
                  <a:srgbClr val="2B3E50"/>
                </a:solidFill>
              </a:rPr>
              <a:t> </a:t>
            </a:r>
            <a:r>
              <a:rPr lang="fr-FR" dirty="0" err="1">
                <a:solidFill>
                  <a:srgbClr val="2B3E50"/>
                </a:solidFill>
              </a:rPr>
              <a:t>is</a:t>
            </a:r>
            <a:r>
              <a:rPr lang="fr-FR" dirty="0">
                <a:solidFill>
                  <a:srgbClr val="2B3E50"/>
                </a:solidFill>
              </a:rPr>
              <a:t> </a:t>
            </a:r>
            <a:r>
              <a:rPr lang="fr-FR" dirty="0" err="1">
                <a:solidFill>
                  <a:srgbClr val="2B3E50"/>
                </a:solidFill>
              </a:rPr>
              <a:t>angular</a:t>
            </a:r>
            <a:r>
              <a:rPr lang="fr-FR" dirty="0">
                <a:solidFill>
                  <a:srgbClr val="2B3E50"/>
                </a:solidFill>
              </a:rPr>
              <a:t> scan for the </a:t>
            </a:r>
            <a:r>
              <a:rPr lang="fr-FR" dirty="0" err="1">
                <a:solidFill>
                  <a:srgbClr val="2B3E50"/>
                </a:solidFill>
              </a:rPr>
              <a:t>selected</a:t>
            </a:r>
            <a:r>
              <a:rPr lang="fr-FR" dirty="0">
                <a:solidFill>
                  <a:srgbClr val="2B3E50"/>
                </a:solidFill>
              </a:rPr>
              <a:t> </a:t>
            </a:r>
            <a:r>
              <a:rPr lang="fr-FR" dirty="0" err="1">
                <a:solidFill>
                  <a:srgbClr val="2B3E50"/>
                </a:solidFill>
              </a:rPr>
              <a:t>energy</a:t>
            </a:r>
            <a:r>
              <a:rPr lang="fr-FR" dirty="0">
                <a:solidFill>
                  <a:srgbClr val="2B3E50"/>
                </a:solidFill>
              </a:rPr>
              <a:t> </a:t>
            </a:r>
            <a:r>
              <a:rPr lang="fr-FR" dirty="0" err="1">
                <a:solidFill>
                  <a:srgbClr val="2B3E50"/>
                </a:solidFill>
              </a:rPr>
              <a:t>spectrum</a:t>
            </a:r>
            <a:endParaRPr lang="fr-FR" dirty="0">
              <a:solidFill>
                <a:srgbClr val="2B3E50"/>
              </a:solidFill>
            </a:endParaRPr>
          </a:p>
          <a:p>
            <a:pPr marL="285750" indent="-285750">
              <a:buFont typeface="Arial" panose="020B0604020202020204" pitchFamily="34" charset="0"/>
              <a:buChar char="•"/>
            </a:pPr>
            <a:r>
              <a:rPr lang="en-US" dirty="0">
                <a:solidFill>
                  <a:srgbClr val="2B3E50"/>
                </a:solidFill>
              </a:rPr>
              <a:t>Important feature: ability to operate efficiently  with minimum user intervention</a:t>
            </a:r>
            <a:endParaRPr lang="fr-FR" dirty="0">
              <a:solidFill>
                <a:srgbClr val="2B3E50"/>
              </a:solidFill>
            </a:endParaRPr>
          </a:p>
        </p:txBody>
      </p:sp>
      <p:sp>
        <p:nvSpPr>
          <p:cNvPr id="12" name="TextBox 11">
            <a:extLst>
              <a:ext uri="{FF2B5EF4-FFF2-40B4-BE49-F238E27FC236}">
                <a16:creationId xmlns:a16="http://schemas.microsoft.com/office/drawing/2014/main" id="{CE104BD8-6299-4BC5-9511-A7680DA2D34E}"/>
              </a:ext>
            </a:extLst>
          </p:cNvPr>
          <p:cNvSpPr txBox="1"/>
          <p:nvPr/>
        </p:nvSpPr>
        <p:spPr>
          <a:xfrm>
            <a:off x="0" y="7449673"/>
            <a:ext cx="12192001" cy="1600438"/>
          </a:xfrm>
          <a:prstGeom prst="rect">
            <a:avLst/>
          </a:prstGeom>
          <a:noFill/>
        </p:spPr>
        <p:txBody>
          <a:bodyPr wrap="square">
            <a:spAutoFit/>
          </a:bodyPr>
          <a:lstStyle/>
          <a:p>
            <a:r>
              <a:rPr lang="en-US" dirty="0">
                <a:solidFill>
                  <a:schemeClr val="accent6"/>
                </a:solidFill>
              </a:rPr>
              <a:t>Copyright (C) 2025</a:t>
            </a:r>
          </a:p>
          <a:p>
            <a:pPr algn="just"/>
            <a:r>
              <a:rPr lang="en-US" sz="1600" dirty="0">
                <a:solidFill>
                  <a:srgbClr val="2B3E50"/>
                </a:solidFill>
              </a:rPr>
              <a:t>pixek.py is free software: you can redistribute it and/or modify it under the terms of the GNU General Public License as published by the Free Software Foundation, either version 3 of the License, or (at your option) any later version. pixek.py is distributed in the hope that it will be useful, but WITHOUT ANY WARRANTY; without even the implied warranty of MERCHANTABILITY or FITNESS FOR A PARTICULAR PURPOSE. See the GNU General Public License for more details. You should have received a copy of the GNU General Public License along with this program. If not, see </a:t>
            </a:r>
            <a:r>
              <a:rPr lang="en-US" sz="1600" dirty="0">
                <a:solidFill>
                  <a:srgbClr val="2B3E50"/>
                </a:solidFill>
                <a:hlinkClick r:id="rId4">
                  <a:extLst>
                    <a:ext uri="{A12FA001-AC4F-418D-AE19-62706E023703}">
                      <ahyp:hlinkClr xmlns:ahyp="http://schemas.microsoft.com/office/drawing/2018/hyperlinkcolor" val="tx"/>
                    </a:ext>
                  </a:extLst>
                </a:hlinkClick>
              </a:rPr>
              <a:t>http://www.gnu.org/licenses/</a:t>
            </a:r>
            <a:r>
              <a:rPr lang="en-US" sz="1600" dirty="0">
                <a:solidFill>
                  <a:srgbClr val="2B3E50"/>
                </a:solidFill>
              </a:rPr>
              <a:t>. </a:t>
            </a:r>
          </a:p>
        </p:txBody>
      </p:sp>
      <p:sp>
        <p:nvSpPr>
          <p:cNvPr id="14" name="TextBox 13">
            <a:extLst>
              <a:ext uri="{FF2B5EF4-FFF2-40B4-BE49-F238E27FC236}">
                <a16:creationId xmlns:a16="http://schemas.microsoft.com/office/drawing/2014/main" id="{9803D74B-61B6-408F-AA54-D1BE03573209}"/>
              </a:ext>
            </a:extLst>
          </p:cNvPr>
          <p:cNvSpPr txBox="1"/>
          <p:nvPr/>
        </p:nvSpPr>
        <p:spPr>
          <a:xfrm>
            <a:off x="0" y="6803342"/>
            <a:ext cx="6283036" cy="646331"/>
          </a:xfrm>
          <a:prstGeom prst="rect">
            <a:avLst/>
          </a:prstGeom>
          <a:noFill/>
        </p:spPr>
        <p:txBody>
          <a:bodyPr wrap="square">
            <a:spAutoFit/>
          </a:bodyPr>
          <a:lstStyle/>
          <a:p>
            <a:endParaRPr lang="fr-FR" dirty="0">
              <a:solidFill>
                <a:srgbClr val="2B3E50"/>
              </a:solidFill>
            </a:endParaRPr>
          </a:p>
          <a:p>
            <a:r>
              <a:rPr lang="fr-FR" sz="1800" dirty="0" err="1">
                <a:solidFill>
                  <a:srgbClr val="2B3E50"/>
                </a:solidFill>
              </a:rPr>
              <a:t>Authors</a:t>
            </a:r>
            <a:r>
              <a:rPr lang="fr-FR" sz="1800" dirty="0">
                <a:solidFill>
                  <a:srgbClr val="2B3E50"/>
                </a:solidFill>
              </a:rPr>
              <a:t>: E. </a:t>
            </a:r>
            <a:r>
              <a:rPr lang="fr-FR" sz="1800" dirty="0" err="1">
                <a:solidFill>
                  <a:srgbClr val="2B3E50"/>
                </a:solidFill>
              </a:rPr>
              <a:t>Kucal</a:t>
            </a:r>
            <a:r>
              <a:rPr lang="fr-FR" sz="1800" dirty="0">
                <a:solidFill>
                  <a:srgbClr val="2B3E50"/>
                </a:solidFill>
              </a:rPr>
              <a:t>, K. </a:t>
            </a:r>
            <a:r>
              <a:rPr lang="fr-FR" sz="1800" dirty="0" err="1">
                <a:solidFill>
                  <a:srgbClr val="2B3E50"/>
                </a:solidFill>
              </a:rPr>
              <a:t>Skrobas</a:t>
            </a:r>
            <a:r>
              <a:rPr lang="fr-FR" sz="1800" dirty="0">
                <a:solidFill>
                  <a:srgbClr val="2B3E50"/>
                </a:solidFill>
              </a:rPr>
              <a:t>, C. </a:t>
            </a:r>
            <a:r>
              <a:rPr lang="fr-FR" sz="1800" dirty="0" err="1">
                <a:solidFill>
                  <a:srgbClr val="2B3E50"/>
                </a:solidFill>
              </a:rPr>
              <a:t>Mieszczyński</a:t>
            </a:r>
            <a:endParaRPr lang="fr-FR" sz="1800" dirty="0">
              <a:solidFill>
                <a:srgbClr val="2B3E50"/>
              </a:solidFill>
            </a:endParaRPr>
          </a:p>
        </p:txBody>
      </p:sp>
    </p:spTree>
    <p:extLst>
      <p:ext uri="{BB962C8B-B14F-4D97-AF65-F5344CB8AC3E}">
        <p14:creationId xmlns:p14="http://schemas.microsoft.com/office/powerpoint/2010/main" val="125602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25D197-8ABD-4D61-B6C2-E05549A6FF97}"/>
              </a:ext>
            </a:extLst>
          </p:cNvPr>
          <p:cNvSpPr/>
          <p:nvPr/>
        </p:nvSpPr>
        <p:spPr>
          <a:xfrm>
            <a:off x="0" y="225632"/>
            <a:ext cx="12312732" cy="486887"/>
          </a:xfrm>
          <a:prstGeom prst="rect">
            <a:avLst/>
          </a:prstGeom>
          <a:gradFill flip="none" rotWithShape="1">
            <a:gsLst>
              <a:gs pos="62000">
                <a:srgbClr val="68C3F5"/>
              </a:gs>
              <a:gs pos="36000">
                <a:srgbClr val="4C9BE8"/>
              </a:gs>
              <a:gs pos="0">
                <a:srgbClr val="2B3E50"/>
              </a:gs>
              <a:gs pos="82000">
                <a:srgbClr val="F3F3F3"/>
              </a:gs>
              <a:gs pos="100000">
                <a:srgbClr val="F3F3F3"/>
              </a:gs>
            </a:gsLst>
            <a:lin ang="108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5">
            <a:extLst>
              <a:ext uri="{FF2B5EF4-FFF2-40B4-BE49-F238E27FC236}">
                <a16:creationId xmlns:a16="http://schemas.microsoft.com/office/drawing/2014/main" id="{0E09D0EC-CE3C-4AD1-B0C2-81D92DA800C8}"/>
              </a:ext>
            </a:extLst>
          </p:cNvPr>
          <p:cNvPicPr>
            <a:picLocks noChangeAspect="1"/>
          </p:cNvPicPr>
          <p:nvPr/>
        </p:nvPicPr>
        <p:blipFill>
          <a:blip r:embed="rId2"/>
          <a:stretch>
            <a:fillRect/>
          </a:stretch>
        </p:blipFill>
        <p:spPr>
          <a:xfrm>
            <a:off x="0" y="225632"/>
            <a:ext cx="331969" cy="486887"/>
          </a:xfrm>
          <a:prstGeom prst="rect">
            <a:avLst/>
          </a:prstGeom>
        </p:spPr>
      </p:pic>
      <p:sp>
        <p:nvSpPr>
          <p:cNvPr id="7" name="TextBox 6">
            <a:extLst>
              <a:ext uri="{FF2B5EF4-FFF2-40B4-BE49-F238E27FC236}">
                <a16:creationId xmlns:a16="http://schemas.microsoft.com/office/drawing/2014/main" id="{D8FF38E6-BB8F-4B3B-8DFF-FE6D420ADF81}"/>
              </a:ext>
            </a:extLst>
          </p:cNvPr>
          <p:cNvSpPr txBox="1"/>
          <p:nvPr/>
        </p:nvSpPr>
        <p:spPr>
          <a:xfrm>
            <a:off x="331969" y="189299"/>
            <a:ext cx="1983719" cy="523220"/>
          </a:xfrm>
          <a:prstGeom prst="rect">
            <a:avLst/>
          </a:prstGeom>
          <a:noFill/>
        </p:spPr>
        <p:txBody>
          <a:bodyPr wrap="square" rtlCol="0">
            <a:spAutoFit/>
          </a:bodyPr>
          <a:lstStyle/>
          <a:p>
            <a:r>
              <a:rPr lang="fr-FR" sz="2800" dirty="0">
                <a:solidFill>
                  <a:schemeClr val="tx1">
                    <a:lumMod val="50000"/>
                  </a:schemeClr>
                </a:solidFill>
              </a:rPr>
              <a:t>pixek</a:t>
            </a:r>
          </a:p>
        </p:txBody>
      </p:sp>
      <p:sp>
        <p:nvSpPr>
          <p:cNvPr id="8" name="TextBox 7">
            <a:extLst>
              <a:ext uri="{FF2B5EF4-FFF2-40B4-BE49-F238E27FC236}">
                <a16:creationId xmlns:a16="http://schemas.microsoft.com/office/drawing/2014/main" id="{0EE04F63-D62D-483C-8064-179D289BBBFB}"/>
              </a:ext>
            </a:extLst>
          </p:cNvPr>
          <p:cNvSpPr txBox="1"/>
          <p:nvPr/>
        </p:nvSpPr>
        <p:spPr>
          <a:xfrm>
            <a:off x="106878" y="748852"/>
            <a:ext cx="11978244" cy="4401205"/>
          </a:xfrm>
          <a:prstGeom prst="rect">
            <a:avLst/>
          </a:prstGeom>
          <a:noFill/>
        </p:spPr>
        <p:txBody>
          <a:bodyPr wrap="square">
            <a:spAutoFit/>
          </a:bodyPr>
          <a:lstStyle/>
          <a:p>
            <a:endParaRPr lang="fr-FR" sz="2000" dirty="0">
              <a:solidFill>
                <a:srgbClr val="2B3E50"/>
              </a:solidFill>
            </a:endParaRPr>
          </a:p>
          <a:p>
            <a:r>
              <a:rPr lang="fr-FR" sz="2000" dirty="0" err="1">
                <a:solidFill>
                  <a:srgbClr val="2B3E50"/>
                </a:solidFill>
              </a:rPr>
              <a:t>Before</a:t>
            </a:r>
            <a:r>
              <a:rPr lang="fr-FR" sz="2000" dirty="0">
                <a:solidFill>
                  <a:srgbClr val="2B3E50"/>
                </a:solidFill>
              </a:rPr>
              <a:t> start:</a:t>
            </a:r>
          </a:p>
          <a:p>
            <a:endParaRPr lang="fr-FR" sz="2000" dirty="0">
              <a:solidFill>
                <a:srgbClr val="2B3E50"/>
              </a:solidFill>
            </a:endParaRPr>
          </a:p>
          <a:p>
            <a:r>
              <a:rPr lang="fr-FR" sz="2000" dirty="0">
                <a:solidFill>
                  <a:srgbClr val="2B3E50"/>
                </a:solidFill>
              </a:rPr>
              <a:t>    			</a:t>
            </a:r>
            <a:r>
              <a:rPr lang="fr-FR" sz="2000" dirty="0" err="1">
                <a:solidFill>
                  <a:srgbClr val="2B3E50"/>
                </a:solidFill>
              </a:rPr>
              <a:t>install</a:t>
            </a:r>
            <a:r>
              <a:rPr lang="fr-FR" sz="2000" dirty="0">
                <a:solidFill>
                  <a:srgbClr val="2B3E50"/>
                </a:solidFill>
              </a:rPr>
              <a:t> the </a:t>
            </a:r>
            <a:r>
              <a:rPr lang="fr-FR" sz="2000" dirty="0" err="1">
                <a:solidFill>
                  <a:srgbClr val="2B3E50"/>
                </a:solidFill>
              </a:rPr>
              <a:t>following</a:t>
            </a:r>
            <a:r>
              <a:rPr lang="fr-FR" sz="2000" dirty="0">
                <a:solidFill>
                  <a:srgbClr val="2B3E50"/>
                </a:solidFill>
              </a:rPr>
              <a:t> </a:t>
            </a:r>
            <a:r>
              <a:rPr lang="fr-FR" sz="2000" dirty="0" err="1">
                <a:solidFill>
                  <a:srgbClr val="2B3E50"/>
                </a:solidFill>
              </a:rPr>
              <a:t>packges</a:t>
            </a:r>
            <a:r>
              <a:rPr lang="fr-FR" sz="2000" dirty="0">
                <a:solidFill>
                  <a:srgbClr val="2B3E50"/>
                </a:solidFill>
              </a:rPr>
              <a:t>:</a:t>
            </a:r>
          </a:p>
          <a:p>
            <a:r>
              <a:rPr lang="fr-FR" sz="2000" dirty="0">
                <a:solidFill>
                  <a:srgbClr val="2B3E50"/>
                </a:solidFill>
              </a:rPr>
              <a:t>    			</a:t>
            </a:r>
            <a:r>
              <a:rPr lang="fr-FR" sz="2000" dirty="0" err="1">
                <a:solidFill>
                  <a:srgbClr val="2B3E50"/>
                </a:solidFill>
              </a:rPr>
              <a:t>scikit-ued</a:t>
            </a:r>
            <a:r>
              <a:rPr lang="fr-FR" sz="2000" dirty="0">
                <a:solidFill>
                  <a:srgbClr val="2B3E50"/>
                </a:solidFill>
              </a:rPr>
              <a:t> package </a:t>
            </a:r>
            <a:r>
              <a:rPr lang="fr-FR" sz="2000" dirty="0" err="1">
                <a:solidFill>
                  <a:srgbClr val="2B3E50"/>
                </a:solidFill>
              </a:rPr>
              <a:t>from</a:t>
            </a:r>
            <a:r>
              <a:rPr lang="fr-FR" sz="2000" dirty="0">
                <a:solidFill>
                  <a:srgbClr val="2B3E50"/>
                </a:solidFill>
              </a:rPr>
              <a:t>: https://github.com/LaurentRDC/scikit-ued/tree/master </a:t>
            </a:r>
            <a:r>
              <a:rPr lang="fr-FR" sz="2000" dirty="0" err="1">
                <a:solidFill>
                  <a:srgbClr val="2B3E50"/>
                </a:solidFill>
              </a:rPr>
              <a:t>tkinter,e.g</a:t>
            </a:r>
            <a:r>
              <a:rPr lang="fr-FR" sz="2000" dirty="0">
                <a:solidFill>
                  <a:srgbClr val="2B3E50"/>
                </a:solidFill>
              </a:rPr>
              <a:t>.: </a:t>
            </a:r>
          </a:p>
          <a:p>
            <a:r>
              <a:rPr lang="fr-FR" sz="2000" dirty="0">
                <a:solidFill>
                  <a:srgbClr val="2B3E50"/>
                </a:solidFill>
              </a:rPr>
              <a:t>			</a:t>
            </a:r>
            <a:r>
              <a:rPr lang="fr-FR" sz="2000" dirty="0" err="1">
                <a:solidFill>
                  <a:srgbClr val="2B3E50"/>
                </a:solidFill>
              </a:rPr>
              <a:t>pip</a:t>
            </a:r>
            <a:r>
              <a:rPr lang="fr-FR" sz="2000" dirty="0">
                <a:solidFill>
                  <a:srgbClr val="2B3E50"/>
                </a:solidFill>
              </a:rPr>
              <a:t> </a:t>
            </a:r>
            <a:r>
              <a:rPr lang="fr-FR" sz="2000" dirty="0" err="1">
                <a:solidFill>
                  <a:srgbClr val="2B3E50"/>
                </a:solidFill>
              </a:rPr>
              <a:t>install</a:t>
            </a:r>
            <a:r>
              <a:rPr lang="fr-FR" sz="2000" dirty="0">
                <a:solidFill>
                  <a:srgbClr val="2B3E50"/>
                </a:solidFill>
              </a:rPr>
              <a:t> </a:t>
            </a:r>
            <a:r>
              <a:rPr lang="fr-FR" sz="2000" dirty="0" err="1">
                <a:solidFill>
                  <a:srgbClr val="2B3E50"/>
                </a:solidFill>
              </a:rPr>
              <a:t>tk</a:t>
            </a:r>
            <a:r>
              <a:rPr lang="fr-FR" sz="2000" dirty="0">
                <a:solidFill>
                  <a:srgbClr val="2B3E50"/>
                </a:solidFill>
              </a:rPr>
              <a:t> </a:t>
            </a:r>
            <a:r>
              <a:rPr lang="fr-FR" sz="2000" dirty="0" err="1">
                <a:solidFill>
                  <a:srgbClr val="2B3E50"/>
                </a:solidFill>
              </a:rPr>
              <a:t>PyWavelets</a:t>
            </a:r>
            <a:r>
              <a:rPr lang="fr-FR" sz="2000" dirty="0">
                <a:solidFill>
                  <a:srgbClr val="2B3E50"/>
                </a:solidFill>
              </a:rPr>
              <a:t>: https://github.com/PyWavelets/pywt </a:t>
            </a:r>
          </a:p>
          <a:p>
            <a:r>
              <a:rPr lang="fr-FR" sz="2000" dirty="0">
                <a:solidFill>
                  <a:srgbClr val="2B3E50"/>
                </a:solidFill>
              </a:rPr>
              <a:t>			</a:t>
            </a:r>
            <a:r>
              <a:rPr lang="fr-FR" sz="2000" dirty="0" err="1">
                <a:solidFill>
                  <a:srgbClr val="2B3E50"/>
                </a:solidFill>
              </a:rPr>
              <a:t>pip</a:t>
            </a:r>
            <a:r>
              <a:rPr lang="fr-FR" sz="2000" dirty="0">
                <a:solidFill>
                  <a:srgbClr val="2B3E50"/>
                </a:solidFill>
              </a:rPr>
              <a:t> </a:t>
            </a:r>
            <a:r>
              <a:rPr lang="fr-FR" sz="2000" dirty="0" err="1">
                <a:solidFill>
                  <a:srgbClr val="2B3E50"/>
                </a:solidFill>
              </a:rPr>
              <a:t>install</a:t>
            </a:r>
            <a:r>
              <a:rPr lang="fr-FR" sz="2000" dirty="0">
                <a:solidFill>
                  <a:srgbClr val="2B3E50"/>
                </a:solidFill>
              </a:rPr>
              <a:t> </a:t>
            </a:r>
            <a:r>
              <a:rPr lang="fr-FR" sz="2000" dirty="0" err="1">
                <a:solidFill>
                  <a:srgbClr val="2B3E50"/>
                </a:solidFill>
              </a:rPr>
              <a:t>PyWavelets</a:t>
            </a:r>
            <a:r>
              <a:rPr lang="fr-FR" sz="2000" dirty="0">
                <a:solidFill>
                  <a:srgbClr val="2B3E50"/>
                </a:solidFill>
              </a:rPr>
              <a:t> </a:t>
            </a:r>
          </a:p>
          <a:p>
            <a:r>
              <a:rPr lang="fr-FR" sz="2000" dirty="0">
                <a:solidFill>
                  <a:srgbClr val="2B3E50"/>
                </a:solidFill>
              </a:rPr>
              <a:t>			</a:t>
            </a:r>
            <a:r>
              <a:rPr lang="fr-FR" sz="2000" dirty="0" err="1">
                <a:solidFill>
                  <a:srgbClr val="2B3E50"/>
                </a:solidFill>
              </a:rPr>
              <a:t>matplotlib</a:t>
            </a:r>
            <a:r>
              <a:rPr lang="fr-FR" sz="2000" dirty="0">
                <a:solidFill>
                  <a:srgbClr val="2B3E50"/>
                </a:solidFill>
              </a:rPr>
              <a:t>, </a:t>
            </a:r>
            <a:r>
              <a:rPr lang="fr-FR" sz="2000" dirty="0" err="1">
                <a:solidFill>
                  <a:srgbClr val="2B3E50"/>
                </a:solidFill>
              </a:rPr>
              <a:t>scipy</a:t>
            </a:r>
            <a:r>
              <a:rPr lang="fr-FR" sz="2000" dirty="0">
                <a:solidFill>
                  <a:srgbClr val="2B3E50"/>
                </a:solidFill>
              </a:rPr>
              <a:t>, </a:t>
            </a:r>
            <a:r>
              <a:rPr lang="fr-FR" sz="2000" dirty="0" err="1">
                <a:solidFill>
                  <a:srgbClr val="2B3E50"/>
                </a:solidFill>
              </a:rPr>
              <a:t>numpy</a:t>
            </a:r>
            <a:r>
              <a:rPr lang="fr-FR" sz="2000" dirty="0">
                <a:solidFill>
                  <a:srgbClr val="2B3E50"/>
                </a:solidFill>
              </a:rPr>
              <a:t> packages: </a:t>
            </a:r>
            <a:r>
              <a:rPr lang="fr-FR" sz="2000" dirty="0" err="1">
                <a:solidFill>
                  <a:srgbClr val="2B3E50"/>
                </a:solidFill>
              </a:rPr>
              <a:t>pip</a:t>
            </a:r>
            <a:r>
              <a:rPr lang="fr-FR" sz="2000" dirty="0">
                <a:solidFill>
                  <a:srgbClr val="2B3E50"/>
                </a:solidFill>
              </a:rPr>
              <a:t> </a:t>
            </a:r>
            <a:r>
              <a:rPr lang="fr-FR" sz="2000" dirty="0" err="1">
                <a:solidFill>
                  <a:srgbClr val="2B3E50"/>
                </a:solidFill>
              </a:rPr>
              <a:t>install</a:t>
            </a:r>
            <a:r>
              <a:rPr lang="fr-FR" sz="2000" dirty="0">
                <a:solidFill>
                  <a:srgbClr val="2B3E50"/>
                </a:solidFill>
              </a:rPr>
              <a:t> </a:t>
            </a:r>
            <a:r>
              <a:rPr lang="fr-FR" sz="2000" dirty="0" err="1">
                <a:solidFill>
                  <a:srgbClr val="2B3E50"/>
                </a:solidFill>
              </a:rPr>
              <a:t>matplotlib</a:t>
            </a:r>
            <a:r>
              <a:rPr lang="fr-FR" sz="2000" dirty="0">
                <a:solidFill>
                  <a:srgbClr val="2B3E50"/>
                </a:solidFill>
              </a:rPr>
              <a:t>, </a:t>
            </a:r>
            <a:r>
              <a:rPr lang="fr-FR" sz="2000" dirty="0" err="1">
                <a:solidFill>
                  <a:srgbClr val="2B3E50"/>
                </a:solidFill>
              </a:rPr>
              <a:t>numpy</a:t>
            </a:r>
            <a:r>
              <a:rPr lang="fr-FR" sz="2000" dirty="0">
                <a:solidFill>
                  <a:srgbClr val="2B3E50"/>
                </a:solidFill>
              </a:rPr>
              <a:t> </a:t>
            </a:r>
            <a:r>
              <a:rPr lang="fr-FR" sz="2000" dirty="0" err="1">
                <a:solidFill>
                  <a:srgbClr val="2B3E50"/>
                </a:solidFill>
              </a:rPr>
              <a:t>scipy</a:t>
            </a:r>
            <a:endParaRPr lang="fr-FR" sz="2000" dirty="0">
              <a:solidFill>
                <a:srgbClr val="2B3E50"/>
              </a:solidFill>
            </a:endParaRPr>
          </a:p>
          <a:p>
            <a:endParaRPr lang="fr-FR" sz="2000" dirty="0">
              <a:solidFill>
                <a:srgbClr val="2B3E50"/>
              </a:solidFill>
            </a:endParaRPr>
          </a:p>
          <a:p>
            <a:r>
              <a:rPr lang="fr-FR" sz="2000" dirty="0">
                <a:solidFill>
                  <a:srgbClr val="2B3E50"/>
                </a:solidFill>
              </a:rPr>
              <a:t>----------------------------------------------------------------------------------------------------------------------------------</a:t>
            </a:r>
          </a:p>
          <a:p>
            <a:endParaRPr lang="fr-FR" sz="2000" dirty="0">
              <a:solidFill>
                <a:srgbClr val="2B3E50"/>
              </a:solidFill>
            </a:endParaRPr>
          </a:p>
          <a:p>
            <a:r>
              <a:rPr lang="fr-FR" sz="2000" dirty="0">
                <a:solidFill>
                  <a:srgbClr val="2B3E50"/>
                </a:solidFill>
              </a:rPr>
              <a:t>Run program:</a:t>
            </a:r>
          </a:p>
          <a:p>
            <a:endParaRPr lang="fr-FR" sz="2000" dirty="0">
              <a:solidFill>
                <a:srgbClr val="2B3E50"/>
              </a:solidFill>
            </a:endParaRPr>
          </a:p>
          <a:p>
            <a:r>
              <a:rPr lang="fr-FR" sz="2000" dirty="0">
                <a:solidFill>
                  <a:srgbClr val="2B3E50"/>
                </a:solidFill>
              </a:rPr>
              <a:t>			$ python3  ./pixek.py</a:t>
            </a:r>
          </a:p>
        </p:txBody>
      </p:sp>
    </p:spTree>
    <p:extLst>
      <p:ext uri="{BB962C8B-B14F-4D97-AF65-F5344CB8AC3E}">
        <p14:creationId xmlns:p14="http://schemas.microsoft.com/office/powerpoint/2010/main" val="1037366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25D197-8ABD-4D61-B6C2-E05549A6FF97}"/>
              </a:ext>
            </a:extLst>
          </p:cNvPr>
          <p:cNvSpPr/>
          <p:nvPr/>
        </p:nvSpPr>
        <p:spPr>
          <a:xfrm>
            <a:off x="0" y="225632"/>
            <a:ext cx="12312732" cy="486887"/>
          </a:xfrm>
          <a:prstGeom prst="rect">
            <a:avLst/>
          </a:prstGeom>
          <a:gradFill flip="none" rotWithShape="1">
            <a:gsLst>
              <a:gs pos="62000">
                <a:srgbClr val="68C3F5"/>
              </a:gs>
              <a:gs pos="36000">
                <a:srgbClr val="4C9BE8"/>
              </a:gs>
              <a:gs pos="0">
                <a:srgbClr val="2B3E50"/>
              </a:gs>
              <a:gs pos="82000">
                <a:srgbClr val="F3F3F3"/>
              </a:gs>
              <a:gs pos="100000">
                <a:srgbClr val="F3F3F3"/>
              </a:gs>
            </a:gsLst>
            <a:lin ang="108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5">
            <a:extLst>
              <a:ext uri="{FF2B5EF4-FFF2-40B4-BE49-F238E27FC236}">
                <a16:creationId xmlns:a16="http://schemas.microsoft.com/office/drawing/2014/main" id="{0E09D0EC-CE3C-4AD1-B0C2-81D92DA800C8}"/>
              </a:ext>
            </a:extLst>
          </p:cNvPr>
          <p:cNvPicPr>
            <a:picLocks noChangeAspect="1"/>
          </p:cNvPicPr>
          <p:nvPr/>
        </p:nvPicPr>
        <p:blipFill>
          <a:blip r:embed="rId2"/>
          <a:stretch>
            <a:fillRect/>
          </a:stretch>
        </p:blipFill>
        <p:spPr>
          <a:xfrm>
            <a:off x="0" y="225632"/>
            <a:ext cx="331969" cy="486887"/>
          </a:xfrm>
          <a:prstGeom prst="rect">
            <a:avLst/>
          </a:prstGeom>
        </p:spPr>
      </p:pic>
      <p:sp>
        <p:nvSpPr>
          <p:cNvPr id="7" name="TextBox 6">
            <a:extLst>
              <a:ext uri="{FF2B5EF4-FFF2-40B4-BE49-F238E27FC236}">
                <a16:creationId xmlns:a16="http://schemas.microsoft.com/office/drawing/2014/main" id="{D8FF38E6-BB8F-4B3B-8DFF-FE6D420ADF81}"/>
              </a:ext>
            </a:extLst>
          </p:cNvPr>
          <p:cNvSpPr txBox="1"/>
          <p:nvPr/>
        </p:nvSpPr>
        <p:spPr>
          <a:xfrm>
            <a:off x="331969" y="189299"/>
            <a:ext cx="1983719" cy="523220"/>
          </a:xfrm>
          <a:prstGeom prst="rect">
            <a:avLst/>
          </a:prstGeom>
          <a:noFill/>
        </p:spPr>
        <p:txBody>
          <a:bodyPr wrap="square" rtlCol="0">
            <a:spAutoFit/>
          </a:bodyPr>
          <a:lstStyle/>
          <a:p>
            <a:r>
              <a:rPr lang="fr-FR" sz="2800" dirty="0">
                <a:solidFill>
                  <a:schemeClr val="tx1">
                    <a:lumMod val="50000"/>
                  </a:schemeClr>
                </a:solidFill>
              </a:rPr>
              <a:t>pixek</a:t>
            </a:r>
          </a:p>
        </p:txBody>
      </p:sp>
      <p:sp>
        <p:nvSpPr>
          <p:cNvPr id="8" name="TextBox 7">
            <a:extLst>
              <a:ext uri="{FF2B5EF4-FFF2-40B4-BE49-F238E27FC236}">
                <a16:creationId xmlns:a16="http://schemas.microsoft.com/office/drawing/2014/main" id="{FCED1652-782A-4EFA-A0BD-4AD5F5833E32}"/>
              </a:ext>
            </a:extLst>
          </p:cNvPr>
          <p:cNvSpPr txBox="1"/>
          <p:nvPr/>
        </p:nvSpPr>
        <p:spPr>
          <a:xfrm>
            <a:off x="165984" y="915872"/>
            <a:ext cx="9464904" cy="1754326"/>
          </a:xfrm>
          <a:prstGeom prst="rect">
            <a:avLst/>
          </a:prstGeom>
          <a:noFill/>
        </p:spPr>
        <p:txBody>
          <a:bodyPr wrap="square">
            <a:spAutoFit/>
          </a:bodyPr>
          <a:lstStyle/>
          <a:p>
            <a:pPr algn="just">
              <a:buClr>
                <a:srgbClr val="00B0F0"/>
              </a:buClr>
              <a:buSzPct val="80000"/>
            </a:pPr>
            <a:r>
              <a:rPr lang="en-US" sz="1800" dirty="0">
                <a:solidFill>
                  <a:srgbClr val="456487"/>
                </a:solidFill>
                <a:latin typeface="+mn-lt"/>
              </a:rPr>
              <a:t>The main interface (on the top of app) contain four options for analysis: </a:t>
            </a:r>
          </a:p>
          <a:p>
            <a:pPr marL="285750" indent="-285750" algn="just">
              <a:buClr>
                <a:srgbClr val="00B0F0"/>
              </a:buClr>
              <a:buSzPct val="80000"/>
              <a:buFont typeface="Wingdings" panose="05000000000000000000" pitchFamily="2" charset="2"/>
              <a:buChar char="v"/>
            </a:pPr>
            <a:r>
              <a:rPr lang="en-US" sz="1800" dirty="0">
                <a:solidFill>
                  <a:srgbClr val="456487"/>
                </a:solidFill>
                <a:latin typeface="+mn-lt"/>
              </a:rPr>
              <a:t>Add spectra, </a:t>
            </a:r>
          </a:p>
          <a:p>
            <a:pPr marL="285750" indent="-285750" algn="just">
              <a:buClr>
                <a:srgbClr val="00B0F0"/>
              </a:buClr>
              <a:buSzPct val="80000"/>
              <a:buFont typeface="Wingdings" panose="05000000000000000000" pitchFamily="2" charset="2"/>
              <a:buChar char="v"/>
            </a:pPr>
            <a:r>
              <a:rPr lang="en-US" sz="1800" dirty="0" err="1">
                <a:solidFill>
                  <a:srgbClr val="456487"/>
                </a:solidFill>
                <a:latin typeface="+mn-lt"/>
              </a:rPr>
              <a:t>Mulitispectra</a:t>
            </a:r>
            <a:r>
              <a:rPr lang="en-US" sz="1800" dirty="0">
                <a:solidFill>
                  <a:srgbClr val="456487"/>
                </a:solidFill>
                <a:latin typeface="+mn-lt"/>
              </a:rPr>
              <a:t> analysis, </a:t>
            </a:r>
          </a:p>
          <a:p>
            <a:pPr marL="285750" indent="-285750" algn="just">
              <a:buClr>
                <a:srgbClr val="00B0F0"/>
              </a:buClr>
              <a:buSzPct val="80000"/>
              <a:buFont typeface="Wingdings" panose="05000000000000000000" pitchFamily="2" charset="2"/>
              <a:buChar char="v"/>
            </a:pPr>
            <a:r>
              <a:rPr lang="en-US" sz="1800" dirty="0">
                <a:solidFill>
                  <a:srgbClr val="456487"/>
                </a:solidFill>
                <a:latin typeface="+mn-lt"/>
              </a:rPr>
              <a:t>Angular Scan,</a:t>
            </a:r>
          </a:p>
          <a:p>
            <a:pPr marL="285750" indent="-285750" algn="just">
              <a:buClr>
                <a:srgbClr val="00B0F0"/>
              </a:buClr>
              <a:buSzPct val="80000"/>
              <a:buFont typeface="Wingdings" panose="05000000000000000000" pitchFamily="2" charset="2"/>
              <a:buChar char="v"/>
            </a:pPr>
            <a:r>
              <a:rPr lang="en-US" sz="1800" dirty="0">
                <a:solidFill>
                  <a:srgbClr val="456487"/>
                </a:solidFill>
                <a:latin typeface="+mn-lt"/>
              </a:rPr>
              <a:t>Info. </a:t>
            </a:r>
          </a:p>
          <a:p>
            <a:pPr algn="just">
              <a:buClr>
                <a:srgbClr val="00B0F0"/>
              </a:buClr>
              <a:buSzPct val="80000"/>
            </a:pPr>
            <a:r>
              <a:rPr lang="en-US" sz="1800" dirty="0">
                <a:solidFill>
                  <a:srgbClr val="456487"/>
                </a:solidFill>
                <a:latin typeface="+mn-lt"/>
              </a:rPr>
              <a:t>The options appear after selecting a choice.</a:t>
            </a:r>
          </a:p>
        </p:txBody>
      </p:sp>
      <p:pic>
        <p:nvPicPr>
          <p:cNvPr id="9" name="Picture 8">
            <a:extLst>
              <a:ext uri="{FF2B5EF4-FFF2-40B4-BE49-F238E27FC236}">
                <a16:creationId xmlns:a16="http://schemas.microsoft.com/office/drawing/2014/main" id="{97E69AE1-AC96-4637-9743-DE9F2CF8BD85}"/>
              </a:ext>
            </a:extLst>
          </p:cNvPr>
          <p:cNvPicPr>
            <a:picLocks noChangeAspect="1"/>
          </p:cNvPicPr>
          <p:nvPr/>
        </p:nvPicPr>
        <p:blipFill>
          <a:blip r:embed="rId3"/>
          <a:stretch>
            <a:fillRect/>
          </a:stretch>
        </p:blipFill>
        <p:spPr>
          <a:xfrm>
            <a:off x="1311629" y="3040084"/>
            <a:ext cx="9931027" cy="5997038"/>
          </a:xfrm>
          <a:prstGeom prst="rect">
            <a:avLst/>
          </a:prstGeom>
        </p:spPr>
      </p:pic>
      <p:sp>
        <p:nvSpPr>
          <p:cNvPr id="3" name="Rectangle 2">
            <a:extLst>
              <a:ext uri="{FF2B5EF4-FFF2-40B4-BE49-F238E27FC236}">
                <a16:creationId xmlns:a16="http://schemas.microsoft.com/office/drawing/2014/main" id="{B1949FA7-BDA0-4754-854F-74ED23E4466E}"/>
              </a:ext>
            </a:extLst>
          </p:cNvPr>
          <p:cNvSpPr/>
          <p:nvPr/>
        </p:nvSpPr>
        <p:spPr>
          <a:xfrm>
            <a:off x="949344" y="2873552"/>
            <a:ext cx="4014542" cy="879052"/>
          </a:xfrm>
          <a:prstGeom prst="rect">
            <a:avLst/>
          </a:prstGeom>
          <a:noFill/>
          <a:ln w="38100">
            <a:solidFill>
              <a:schemeClr val="accent5">
                <a:lumMod val="75000"/>
              </a:schemeClr>
            </a:solidFill>
          </a:ln>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Arrow: Down 4">
            <a:extLst>
              <a:ext uri="{FF2B5EF4-FFF2-40B4-BE49-F238E27FC236}">
                <a16:creationId xmlns:a16="http://schemas.microsoft.com/office/drawing/2014/main" id="{768CFCEB-63F2-4F10-91CD-959166BA0B58}"/>
              </a:ext>
            </a:extLst>
          </p:cNvPr>
          <p:cNvSpPr/>
          <p:nvPr/>
        </p:nvSpPr>
        <p:spPr>
          <a:xfrm rot="3791203">
            <a:off x="5500885" y="1877833"/>
            <a:ext cx="320498" cy="12471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1" name="TextBox 10">
            <a:extLst>
              <a:ext uri="{FF2B5EF4-FFF2-40B4-BE49-F238E27FC236}">
                <a16:creationId xmlns:a16="http://schemas.microsoft.com/office/drawing/2014/main" id="{FA1CBEB2-52F4-47B5-919B-0C017076D156}"/>
              </a:ext>
            </a:extLst>
          </p:cNvPr>
          <p:cNvSpPr txBox="1"/>
          <p:nvPr/>
        </p:nvSpPr>
        <p:spPr>
          <a:xfrm>
            <a:off x="6277142" y="1455589"/>
            <a:ext cx="6216732" cy="1200329"/>
          </a:xfrm>
          <a:prstGeom prst="rect">
            <a:avLst/>
          </a:prstGeom>
          <a:noFill/>
        </p:spPr>
        <p:txBody>
          <a:bodyPr wrap="square">
            <a:spAutoFit/>
          </a:bodyPr>
          <a:lstStyle/>
          <a:p>
            <a:pPr algn="just">
              <a:buClr>
                <a:srgbClr val="00B0F0"/>
              </a:buClr>
              <a:buSzPct val="80000"/>
            </a:pPr>
            <a:endParaRPr lang="en-US" sz="1800" dirty="0">
              <a:solidFill>
                <a:srgbClr val="456487"/>
              </a:solidFill>
              <a:latin typeface="+mn-lt"/>
            </a:endParaRPr>
          </a:p>
          <a:p>
            <a:pPr algn="just">
              <a:buClr>
                <a:srgbClr val="00B0F0"/>
              </a:buClr>
              <a:buSzPct val="80000"/>
            </a:pPr>
            <a:r>
              <a:rPr lang="en-US" sz="1800" dirty="0">
                <a:solidFill>
                  <a:schemeClr val="accent5"/>
                </a:solidFill>
                <a:latin typeface="+mn-lt"/>
              </a:rPr>
              <a:t>Begin by loading the data into the pixek.</a:t>
            </a:r>
          </a:p>
          <a:p>
            <a:pPr algn="just">
              <a:buClr>
                <a:srgbClr val="00B0F0"/>
              </a:buClr>
              <a:buSzPct val="80000"/>
            </a:pPr>
            <a:r>
              <a:rPr lang="en-US" sz="1800" dirty="0">
                <a:solidFill>
                  <a:schemeClr val="accent5"/>
                </a:solidFill>
                <a:latin typeface="+mn-lt"/>
              </a:rPr>
              <a:t>You can find this option by selecting the ‘Add spectra’.</a:t>
            </a:r>
          </a:p>
          <a:p>
            <a:pPr algn="just">
              <a:buClr>
                <a:srgbClr val="00B0F0"/>
              </a:buClr>
              <a:buSzPct val="80000"/>
            </a:pPr>
            <a:endParaRPr lang="en-US" sz="1800" dirty="0">
              <a:solidFill>
                <a:srgbClr val="456487"/>
              </a:solidFill>
              <a:latin typeface="+mn-lt"/>
            </a:endParaRPr>
          </a:p>
        </p:txBody>
      </p:sp>
    </p:spTree>
    <p:extLst>
      <p:ext uri="{BB962C8B-B14F-4D97-AF65-F5344CB8AC3E}">
        <p14:creationId xmlns:p14="http://schemas.microsoft.com/office/powerpoint/2010/main" val="3607011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25D197-8ABD-4D61-B6C2-E05549A6FF97}"/>
              </a:ext>
            </a:extLst>
          </p:cNvPr>
          <p:cNvSpPr/>
          <p:nvPr/>
        </p:nvSpPr>
        <p:spPr>
          <a:xfrm>
            <a:off x="0" y="225632"/>
            <a:ext cx="12312732" cy="486887"/>
          </a:xfrm>
          <a:prstGeom prst="rect">
            <a:avLst/>
          </a:prstGeom>
          <a:gradFill flip="none" rotWithShape="1">
            <a:gsLst>
              <a:gs pos="62000">
                <a:srgbClr val="68C3F5"/>
              </a:gs>
              <a:gs pos="36000">
                <a:srgbClr val="4C9BE8"/>
              </a:gs>
              <a:gs pos="0">
                <a:srgbClr val="2B3E50"/>
              </a:gs>
              <a:gs pos="82000">
                <a:srgbClr val="F3F3F3"/>
              </a:gs>
              <a:gs pos="100000">
                <a:srgbClr val="F3F3F3"/>
              </a:gs>
            </a:gsLst>
            <a:lin ang="108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5">
            <a:extLst>
              <a:ext uri="{FF2B5EF4-FFF2-40B4-BE49-F238E27FC236}">
                <a16:creationId xmlns:a16="http://schemas.microsoft.com/office/drawing/2014/main" id="{0E09D0EC-CE3C-4AD1-B0C2-81D92DA800C8}"/>
              </a:ext>
            </a:extLst>
          </p:cNvPr>
          <p:cNvPicPr>
            <a:picLocks noChangeAspect="1"/>
          </p:cNvPicPr>
          <p:nvPr/>
        </p:nvPicPr>
        <p:blipFill>
          <a:blip r:embed="rId2"/>
          <a:stretch>
            <a:fillRect/>
          </a:stretch>
        </p:blipFill>
        <p:spPr>
          <a:xfrm>
            <a:off x="0" y="225632"/>
            <a:ext cx="331969" cy="486887"/>
          </a:xfrm>
          <a:prstGeom prst="rect">
            <a:avLst/>
          </a:prstGeom>
        </p:spPr>
      </p:pic>
      <p:sp>
        <p:nvSpPr>
          <p:cNvPr id="7" name="TextBox 6">
            <a:extLst>
              <a:ext uri="{FF2B5EF4-FFF2-40B4-BE49-F238E27FC236}">
                <a16:creationId xmlns:a16="http://schemas.microsoft.com/office/drawing/2014/main" id="{D8FF38E6-BB8F-4B3B-8DFF-FE6D420ADF81}"/>
              </a:ext>
            </a:extLst>
          </p:cNvPr>
          <p:cNvSpPr txBox="1"/>
          <p:nvPr/>
        </p:nvSpPr>
        <p:spPr>
          <a:xfrm>
            <a:off x="331969" y="189299"/>
            <a:ext cx="5427563" cy="584775"/>
          </a:xfrm>
          <a:prstGeom prst="rect">
            <a:avLst/>
          </a:prstGeom>
          <a:noFill/>
        </p:spPr>
        <p:txBody>
          <a:bodyPr wrap="square" rtlCol="0">
            <a:spAutoFit/>
          </a:bodyPr>
          <a:lstStyle/>
          <a:p>
            <a:r>
              <a:rPr lang="en-US" sz="3200" dirty="0">
                <a:solidFill>
                  <a:schemeClr val="tx1">
                    <a:lumMod val="50000"/>
                  </a:schemeClr>
                </a:solidFill>
              </a:rPr>
              <a:t>Add spectrum</a:t>
            </a:r>
            <a:endParaRPr lang="fr-FR" sz="2800" dirty="0">
              <a:solidFill>
                <a:schemeClr val="tx1">
                  <a:lumMod val="50000"/>
                </a:schemeClr>
              </a:solidFill>
            </a:endParaRPr>
          </a:p>
        </p:txBody>
      </p:sp>
      <p:sp>
        <p:nvSpPr>
          <p:cNvPr id="8" name="TextBox 7">
            <a:extLst>
              <a:ext uri="{FF2B5EF4-FFF2-40B4-BE49-F238E27FC236}">
                <a16:creationId xmlns:a16="http://schemas.microsoft.com/office/drawing/2014/main" id="{9D44FE55-5FB7-4387-8FE9-6F0DAD40153F}"/>
              </a:ext>
            </a:extLst>
          </p:cNvPr>
          <p:cNvSpPr txBox="1"/>
          <p:nvPr/>
        </p:nvSpPr>
        <p:spPr>
          <a:xfrm>
            <a:off x="134316" y="689799"/>
            <a:ext cx="5687561" cy="3908762"/>
          </a:xfrm>
          <a:prstGeom prst="rect">
            <a:avLst/>
          </a:prstGeom>
          <a:noFill/>
        </p:spPr>
        <p:txBody>
          <a:bodyPr wrap="square">
            <a:spAutoFit/>
          </a:bodyPr>
          <a:lstStyle/>
          <a:p>
            <a:r>
              <a:rPr lang="en-US" sz="3200" dirty="0">
                <a:solidFill>
                  <a:schemeClr val="accent5"/>
                </a:solidFill>
                <a:latin typeface="+mn-lt"/>
              </a:rPr>
              <a:t>Load data</a:t>
            </a:r>
          </a:p>
          <a:p>
            <a:pPr algn="just"/>
            <a:r>
              <a:rPr lang="en-US" dirty="0">
                <a:solidFill>
                  <a:srgbClr val="456487"/>
                </a:solidFill>
                <a:latin typeface="+mn-lt"/>
              </a:rPr>
              <a:t>The first step is to add the spectrum – choosing file is possible by click to </a:t>
            </a:r>
            <a:r>
              <a:rPr lang="en-US" b="1" dirty="0">
                <a:solidFill>
                  <a:srgbClr val="456487"/>
                </a:solidFill>
                <a:latin typeface="+mn-lt"/>
              </a:rPr>
              <a:t>Open file</a:t>
            </a:r>
            <a:r>
              <a:rPr lang="en-US" dirty="0">
                <a:solidFill>
                  <a:srgbClr val="456487"/>
                </a:solidFill>
                <a:latin typeface="+mn-lt"/>
              </a:rPr>
              <a:t>. </a:t>
            </a:r>
            <a:r>
              <a:rPr lang="en-US" dirty="0">
                <a:solidFill>
                  <a:srgbClr val="456487"/>
                </a:solidFill>
              </a:rPr>
              <a:t>T</a:t>
            </a:r>
            <a:r>
              <a:rPr lang="en-US" dirty="0">
                <a:solidFill>
                  <a:srgbClr val="456487"/>
                </a:solidFill>
                <a:latin typeface="+mn-lt"/>
              </a:rPr>
              <a:t>he user should load spectra with adding necessary information about experimental spectra, later on needed to create angular scan like tilt angle or dose. Information about the dose are important to rescale the spectrum and have possibility to compare spectra collected with different tilt angles. </a:t>
            </a:r>
          </a:p>
          <a:p>
            <a:pPr algn="just"/>
            <a:endParaRPr lang="en-US" dirty="0">
              <a:solidFill>
                <a:srgbClr val="456487"/>
              </a:solidFill>
              <a:latin typeface="+mn-lt"/>
            </a:endParaRPr>
          </a:p>
          <a:p>
            <a:pPr algn="just"/>
            <a:r>
              <a:rPr lang="en-US" dirty="0">
                <a:solidFill>
                  <a:srgbClr val="456487"/>
                </a:solidFill>
                <a:latin typeface="+mn-lt"/>
              </a:rPr>
              <a:t>Note: Once the file is uploaded, all information provided in the labels is assigned to our spectrum. </a:t>
            </a:r>
            <a:r>
              <a:rPr lang="en-US" dirty="0">
                <a:solidFill>
                  <a:srgbClr val="456487"/>
                </a:solidFill>
              </a:rPr>
              <a:t>O</a:t>
            </a:r>
            <a:r>
              <a:rPr lang="en-US" sz="1800" dirty="0">
                <a:solidFill>
                  <a:srgbClr val="456487"/>
                </a:solidFill>
                <a:latin typeface="+mn-lt"/>
              </a:rPr>
              <a:t>pening file save a new spectra with data that are in labels, so after notice mistake in info, please reload spectra.</a:t>
            </a:r>
            <a:endParaRPr lang="fr-FR" dirty="0">
              <a:solidFill>
                <a:schemeClr val="accent5"/>
              </a:solidFill>
            </a:endParaRPr>
          </a:p>
        </p:txBody>
      </p:sp>
      <p:pic>
        <p:nvPicPr>
          <p:cNvPr id="10" name="Picture 9">
            <a:extLst>
              <a:ext uri="{FF2B5EF4-FFF2-40B4-BE49-F238E27FC236}">
                <a16:creationId xmlns:a16="http://schemas.microsoft.com/office/drawing/2014/main" id="{5C1D0650-EAF8-4396-BE86-EF88E2DACBBF}"/>
              </a:ext>
            </a:extLst>
          </p:cNvPr>
          <p:cNvPicPr>
            <a:picLocks noChangeAspect="1"/>
          </p:cNvPicPr>
          <p:nvPr/>
        </p:nvPicPr>
        <p:blipFill>
          <a:blip r:embed="rId3"/>
          <a:stretch>
            <a:fillRect/>
          </a:stretch>
        </p:blipFill>
        <p:spPr>
          <a:xfrm>
            <a:off x="1552648" y="4959829"/>
            <a:ext cx="2592500" cy="3453443"/>
          </a:xfrm>
          <a:prstGeom prst="rect">
            <a:avLst/>
          </a:prstGeom>
        </p:spPr>
      </p:pic>
      <p:sp>
        <p:nvSpPr>
          <p:cNvPr id="12" name="TextBox 11">
            <a:extLst>
              <a:ext uri="{FF2B5EF4-FFF2-40B4-BE49-F238E27FC236}">
                <a16:creationId xmlns:a16="http://schemas.microsoft.com/office/drawing/2014/main" id="{E5ED6BDC-DFB7-46C5-91A7-7B11C3EACEE9}"/>
              </a:ext>
            </a:extLst>
          </p:cNvPr>
          <p:cNvSpPr txBox="1"/>
          <p:nvPr/>
        </p:nvSpPr>
        <p:spPr>
          <a:xfrm>
            <a:off x="6005946" y="748852"/>
            <a:ext cx="6020070" cy="3077766"/>
          </a:xfrm>
          <a:prstGeom prst="rect">
            <a:avLst/>
          </a:prstGeom>
          <a:noFill/>
        </p:spPr>
        <p:txBody>
          <a:bodyPr wrap="square">
            <a:spAutoFit/>
          </a:bodyPr>
          <a:lstStyle/>
          <a:p>
            <a:r>
              <a:rPr lang="en-US" sz="3200" dirty="0">
                <a:solidFill>
                  <a:schemeClr val="accent5"/>
                </a:solidFill>
                <a:latin typeface="+mn-lt"/>
              </a:rPr>
              <a:t>Calibration</a:t>
            </a:r>
          </a:p>
          <a:p>
            <a:r>
              <a:rPr lang="en-US" dirty="0">
                <a:solidFill>
                  <a:srgbClr val="456487"/>
                </a:solidFill>
                <a:latin typeface="+mn-lt"/>
              </a:rPr>
              <a:t>There are two calibration methods:</a:t>
            </a:r>
          </a:p>
          <a:p>
            <a:pPr algn="just"/>
            <a:r>
              <a:rPr lang="en-US" dirty="0">
                <a:solidFill>
                  <a:srgbClr val="456487"/>
                </a:solidFill>
                <a:latin typeface="+mn-lt"/>
              </a:rPr>
              <a:t>- </a:t>
            </a:r>
            <a:r>
              <a:rPr lang="en-US" b="1" dirty="0">
                <a:solidFill>
                  <a:srgbClr val="456487"/>
                </a:solidFill>
                <a:latin typeface="+mn-lt"/>
              </a:rPr>
              <a:t>E=</a:t>
            </a:r>
            <a:r>
              <a:rPr lang="en-US" b="1" dirty="0" err="1">
                <a:solidFill>
                  <a:srgbClr val="456487"/>
                </a:solidFill>
                <a:latin typeface="+mn-lt"/>
              </a:rPr>
              <a:t>ax+b</a:t>
            </a:r>
            <a:r>
              <a:rPr lang="en-US" b="1" dirty="0">
                <a:solidFill>
                  <a:srgbClr val="456487"/>
                </a:solidFill>
                <a:latin typeface="+mn-lt"/>
              </a:rPr>
              <a:t> </a:t>
            </a:r>
            <a:r>
              <a:rPr lang="en-US" dirty="0">
                <a:solidFill>
                  <a:srgbClr val="456487"/>
                </a:solidFill>
                <a:latin typeface="+mn-lt"/>
              </a:rPr>
              <a:t>with parameters a and b (if it was provided after experiment)</a:t>
            </a:r>
          </a:p>
          <a:p>
            <a:pPr algn="just"/>
            <a:r>
              <a:rPr lang="en-US" dirty="0">
                <a:solidFill>
                  <a:srgbClr val="456487"/>
                </a:solidFill>
                <a:latin typeface="+mn-lt"/>
              </a:rPr>
              <a:t>- </a:t>
            </a:r>
            <a:r>
              <a:rPr lang="en-US" b="1" dirty="0">
                <a:solidFill>
                  <a:srgbClr val="456487"/>
                </a:solidFill>
                <a:latin typeface="+mn-lt"/>
              </a:rPr>
              <a:t>Peaks </a:t>
            </a:r>
            <a:r>
              <a:rPr lang="en-US" dirty="0">
                <a:solidFill>
                  <a:srgbClr val="456487"/>
                </a:solidFill>
                <a:latin typeface="+mn-lt"/>
              </a:rPr>
              <a:t>with finding characteristic peak for elements that occur in investigated matrix, the code can help to find maximum of the spectra by </a:t>
            </a:r>
            <a:r>
              <a:rPr lang="en-US" b="1" dirty="0">
                <a:solidFill>
                  <a:srgbClr val="456487"/>
                </a:solidFill>
                <a:latin typeface="+mn-lt"/>
              </a:rPr>
              <a:t>Show spectrum maximum </a:t>
            </a:r>
            <a:r>
              <a:rPr lang="en-US" dirty="0">
                <a:solidFill>
                  <a:srgbClr val="456487"/>
                </a:solidFill>
                <a:latin typeface="+mn-lt"/>
              </a:rPr>
              <a:t>and than you can input known energy of the peak for calibration and </a:t>
            </a:r>
            <a:r>
              <a:rPr lang="en-US" b="1" dirty="0">
                <a:solidFill>
                  <a:srgbClr val="456487"/>
                </a:solidFill>
                <a:latin typeface="+mn-lt"/>
              </a:rPr>
              <a:t>Mark</a:t>
            </a:r>
            <a:r>
              <a:rPr lang="en-US" dirty="0">
                <a:solidFill>
                  <a:srgbClr val="456487"/>
                </a:solidFill>
                <a:latin typeface="+mn-lt"/>
              </a:rPr>
              <a:t> it on the plot. Calibration occurs after click on </a:t>
            </a:r>
            <a:r>
              <a:rPr lang="en-US" b="1" dirty="0">
                <a:solidFill>
                  <a:srgbClr val="456487"/>
                </a:solidFill>
                <a:latin typeface="+mn-lt"/>
              </a:rPr>
              <a:t>PLOT</a:t>
            </a:r>
            <a:r>
              <a:rPr lang="en-US" dirty="0">
                <a:solidFill>
                  <a:srgbClr val="456487"/>
                </a:solidFill>
                <a:latin typeface="+mn-lt"/>
              </a:rPr>
              <a:t> button.</a:t>
            </a:r>
          </a:p>
        </p:txBody>
      </p:sp>
      <p:pic>
        <p:nvPicPr>
          <p:cNvPr id="14" name="Picture 13">
            <a:extLst>
              <a:ext uri="{FF2B5EF4-FFF2-40B4-BE49-F238E27FC236}">
                <a16:creationId xmlns:a16="http://schemas.microsoft.com/office/drawing/2014/main" id="{AC7D56A9-664E-4A33-BFE1-6B4C2ABFE7C8}"/>
              </a:ext>
            </a:extLst>
          </p:cNvPr>
          <p:cNvPicPr>
            <a:picLocks noChangeAspect="1"/>
          </p:cNvPicPr>
          <p:nvPr/>
        </p:nvPicPr>
        <p:blipFill>
          <a:blip r:embed="rId4"/>
          <a:stretch>
            <a:fillRect/>
          </a:stretch>
        </p:blipFill>
        <p:spPr>
          <a:xfrm>
            <a:off x="7438905" y="3728049"/>
            <a:ext cx="2643246" cy="3791623"/>
          </a:xfrm>
          <a:prstGeom prst="rect">
            <a:avLst/>
          </a:prstGeom>
        </p:spPr>
      </p:pic>
      <p:sp>
        <p:nvSpPr>
          <p:cNvPr id="15" name="Rectangle 14">
            <a:extLst>
              <a:ext uri="{FF2B5EF4-FFF2-40B4-BE49-F238E27FC236}">
                <a16:creationId xmlns:a16="http://schemas.microsoft.com/office/drawing/2014/main" id="{DC39044F-AEFC-497E-840F-E9C51F745888}"/>
              </a:ext>
            </a:extLst>
          </p:cNvPr>
          <p:cNvSpPr/>
          <p:nvPr/>
        </p:nvSpPr>
        <p:spPr>
          <a:xfrm>
            <a:off x="9015981" y="6985143"/>
            <a:ext cx="923666" cy="439526"/>
          </a:xfrm>
          <a:prstGeom prst="rect">
            <a:avLst/>
          </a:prstGeom>
          <a:noFill/>
          <a:ln w="38100">
            <a:solidFill>
              <a:schemeClr val="accent5">
                <a:lumMod val="75000"/>
              </a:schemeClr>
            </a:solidFill>
          </a:ln>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Arrow: Down 15">
            <a:extLst>
              <a:ext uri="{FF2B5EF4-FFF2-40B4-BE49-F238E27FC236}">
                <a16:creationId xmlns:a16="http://schemas.microsoft.com/office/drawing/2014/main" id="{ECECCF53-480C-40CE-A247-DD589DC5A57A}"/>
              </a:ext>
            </a:extLst>
          </p:cNvPr>
          <p:cNvSpPr/>
          <p:nvPr/>
        </p:nvSpPr>
        <p:spPr>
          <a:xfrm rot="3791203">
            <a:off x="10408229" y="5999954"/>
            <a:ext cx="320498" cy="12471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18" name="TextBox 17">
            <a:extLst>
              <a:ext uri="{FF2B5EF4-FFF2-40B4-BE49-F238E27FC236}">
                <a16:creationId xmlns:a16="http://schemas.microsoft.com/office/drawing/2014/main" id="{C7E66B3C-A595-4E90-B8E0-B74D67EF8F93}"/>
              </a:ext>
            </a:extLst>
          </p:cNvPr>
          <p:cNvSpPr txBox="1"/>
          <p:nvPr/>
        </p:nvSpPr>
        <p:spPr>
          <a:xfrm>
            <a:off x="10568478" y="5822425"/>
            <a:ext cx="6216732" cy="369332"/>
          </a:xfrm>
          <a:prstGeom prst="rect">
            <a:avLst/>
          </a:prstGeom>
          <a:noFill/>
        </p:spPr>
        <p:txBody>
          <a:bodyPr wrap="square">
            <a:spAutoFit/>
          </a:bodyPr>
          <a:lstStyle/>
          <a:p>
            <a:r>
              <a:rPr lang="en-US" sz="1800" dirty="0">
                <a:solidFill>
                  <a:schemeClr val="accent5"/>
                </a:solidFill>
                <a:latin typeface="+mn-lt"/>
              </a:rPr>
              <a:t>Run calibration</a:t>
            </a:r>
            <a:endParaRPr lang="fr-FR" dirty="0"/>
          </a:p>
        </p:txBody>
      </p:sp>
      <p:sp>
        <p:nvSpPr>
          <p:cNvPr id="19" name="TextBox 18">
            <a:extLst>
              <a:ext uri="{FF2B5EF4-FFF2-40B4-BE49-F238E27FC236}">
                <a16:creationId xmlns:a16="http://schemas.microsoft.com/office/drawing/2014/main" id="{DDBEE664-804C-49CE-A5E3-A2ACAF9E5A1D}"/>
              </a:ext>
            </a:extLst>
          </p:cNvPr>
          <p:cNvSpPr txBox="1"/>
          <p:nvPr/>
        </p:nvSpPr>
        <p:spPr>
          <a:xfrm>
            <a:off x="59309" y="8484604"/>
            <a:ext cx="2789589" cy="646331"/>
          </a:xfrm>
          <a:prstGeom prst="rect">
            <a:avLst/>
          </a:prstGeom>
          <a:noFill/>
        </p:spPr>
        <p:txBody>
          <a:bodyPr wrap="square">
            <a:spAutoFit/>
          </a:bodyPr>
          <a:lstStyle/>
          <a:p>
            <a:r>
              <a:rPr lang="en-US" sz="1800" dirty="0">
                <a:solidFill>
                  <a:schemeClr val="accent5"/>
                </a:solidFill>
                <a:latin typeface="+mn-lt"/>
              </a:rPr>
              <a:t>Open spectrum </a:t>
            </a:r>
            <a:br>
              <a:rPr lang="en-US" sz="1800" dirty="0">
                <a:solidFill>
                  <a:schemeClr val="accent5"/>
                </a:solidFill>
                <a:latin typeface="+mn-lt"/>
              </a:rPr>
            </a:br>
            <a:r>
              <a:rPr lang="en-US" sz="1800" dirty="0">
                <a:solidFill>
                  <a:schemeClr val="accent5"/>
                </a:solidFill>
                <a:latin typeface="+mn-lt"/>
              </a:rPr>
              <a:t>and load spectrum data</a:t>
            </a:r>
            <a:endParaRPr lang="fr-FR" dirty="0"/>
          </a:p>
        </p:txBody>
      </p:sp>
      <p:sp>
        <p:nvSpPr>
          <p:cNvPr id="20" name="Arrow: Down 19">
            <a:extLst>
              <a:ext uri="{FF2B5EF4-FFF2-40B4-BE49-F238E27FC236}">
                <a16:creationId xmlns:a16="http://schemas.microsoft.com/office/drawing/2014/main" id="{DB10F946-ECFB-4FE4-8181-C6D0E61ABA73}"/>
              </a:ext>
            </a:extLst>
          </p:cNvPr>
          <p:cNvSpPr/>
          <p:nvPr/>
        </p:nvSpPr>
        <p:spPr>
          <a:xfrm rot="14548699">
            <a:off x="914509" y="7668481"/>
            <a:ext cx="320498" cy="91074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
        <p:nvSpPr>
          <p:cNvPr id="21" name="Rectangle 20">
            <a:extLst>
              <a:ext uri="{FF2B5EF4-FFF2-40B4-BE49-F238E27FC236}">
                <a16:creationId xmlns:a16="http://schemas.microsoft.com/office/drawing/2014/main" id="{3B0CFFDD-B139-443F-8C99-5FA3635DBB56}"/>
              </a:ext>
            </a:extLst>
          </p:cNvPr>
          <p:cNvSpPr/>
          <p:nvPr/>
        </p:nvSpPr>
        <p:spPr>
          <a:xfrm>
            <a:off x="1600914" y="7439551"/>
            <a:ext cx="923666" cy="439526"/>
          </a:xfrm>
          <a:prstGeom prst="rect">
            <a:avLst/>
          </a:prstGeom>
          <a:noFill/>
          <a:ln w="38100">
            <a:solidFill>
              <a:schemeClr val="accent5">
                <a:lumMod val="75000"/>
              </a:schemeClr>
            </a:solidFill>
          </a:ln>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TextBox 22">
            <a:extLst>
              <a:ext uri="{FF2B5EF4-FFF2-40B4-BE49-F238E27FC236}">
                <a16:creationId xmlns:a16="http://schemas.microsoft.com/office/drawing/2014/main" id="{2B04BC9C-37D6-4CAF-9A8B-4A060BBFC881}"/>
              </a:ext>
            </a:extLst>
          </p:cNvPr>
          <p:cNvSpPr txBox="1"/>
          <p:nvPr/>
        </p:nvSpPr>
        <p:spPr>
          <a:xfrm>
            <a:off x="6221053" y="7951607"/>
            <a:ext cx="5804963" cy="923330"/>
          </a:xfrm>
          <a:prstGeom prst="rect">
            <a:avLst/>
          </a:prstGeom>
          <a:noFill/>
        </p:spPr>
        <p:txBody>
          <a:bodyPr wrap="square">
            <a:spAutoFit/>
          </a:bodyPr>
          <a:lstStyle/>
          <a:p>
            <a:pPr algn="just">
              <a:buClr>
                <a:srgbClr val="00B0F0"/>
              </a:buClr>
              <a:buSzPct val="80000"/>
            </a:pPr>
            <a:r>
              <a:rPr lang="en-US" sz="1800" dirty="0">
                <a:solidFill>
                  <a:srgbClr val="456487"/>
                </a:solidFill>
                <a:latin typeface="+mn-lt"/>
              </a:rPr>
              <a:t>Calibrated spectra automatically are send to multispectral analysis, in case user wants to perform multispectral analysis.</a:t>
            </a:r>
          </a:p>
        </p:txBody>
      </p:sp>
    </p:spTree>
    <p:extLst>
      <p:ext uri="{BB962C8B-B14F-4D97-AF65-F5344CB8AC3E}">
        <p14:creationId xmlns:p14="http://schemas.microsoft.com/office/powerpoint/2010/main" val="15129514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25D197-8ABD-4D61-B6C2-E05549A6FF97}"/>
              </a:ext>
            </a:extLst>
          </p:cNvPr>
          <p:cNvSpPr/>
          <p:nvPr/>
        </p:nvSpPr>
        <p:spPr>
          <a:xfrm>
            <a:off x="0" y="225632"/>
            <a:ext cx="12312732" cy="486887"/>
          </a:xfrm>
          <a:prstGeom prst="rect">
            <a:avLst/>
          </a:prstGeom>
          <a:gradFill flip="none" rotWithShape="1">
            <a:gsLst>
              <a:gs pos="62000">
                <a:srgbClr val="68C3F5"/>
              </a:gs>
              <a:gs pos="36000">
                <a:srgbClr val="4C9BE8"/>
              </a:gs>
              <a:gs pos="0">
                <a:srgbClr val="2B3E50"/>
              </a:gs>
              <a:gs pos="82000">
                <a:srgbClr val="F3F3F3"/>
              </a:gs>
              <a:gs pos="100000">
                <a:srgbClr val="F3F3F3"/>
              </a:gs>
            </a:gsLst>
            <a:lin ang="108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5">
            <a:extLst>
              <a:ext uri="{FF2B5EF4-FFF2-40B4-BE49-F238E27FC236}">
                <a16:creationId xmlns:a16="http://schemas.microsoft.com/office/drawing/2014/main" id="{0E09D0EC-CE3C-4AD1-B0C2-81D92DA800C8}"/>
              </a:ext>
            </a:extLst>
          </p:cNvPr>
          <p:cNvPicPr>
            <a:picLocks noChangeAspect="1"/>
          </p:cNvPicPr>
          <p:nvPr/>
        </p:nvPicPr>
        <p:blipFill>
          <a:blip r:embed="rId2"/>
          <a:stretch>
            <a:fillRect/>
          </a:stretch>
        </p:blipFill>
        <p:spPr>
          <a:xfrm>
            <a:off x="0" y="225632"/>
            <a:ext cx="331969" cy="486887"/>
          </a:xfrm>
          <a:prstGeom prst="rect">
            <a:avLst/>
          </a:prstGeom>
        </p:spPr>
      </p:pic>
      <p:sp>
        <p:nvSpPr>
          <p:cNvPr id="7" name="TextBox 6">
            <a:extLst>
              <a:ext uri="{FF2B5EF4-FFF2-40B4-BE49-F238E27FC236}">
                <a16:creationId xmlns:a16="http://schemas.microsoft.com/office/drawing/2014/main" id="{D8FF38E6-BB8F-4B3B-8DFF-FE6D420ADF81}"/>
              </a:ext>
            </a:extLst>
          </p:cNvPr>
          <p:cNvSpPr txBox="1"/>
          <p:nvPr/>
        </p:nvSpPr>
        <p:spPr>
          <a:xfrm>
            <a:off x="331969" y="189299"/>
            <a:ext cx="3313756" cy="523220"/>
          </a:xfrm>
          <a:prstGeom prst="rect">
            <a:avLst/>
          </a:prstGeom>
          <a:noFill/>
        </p:spPr>
        <p:txBody>
          <a:bodyPr wrap="square" rtlCol="0">
            <a:spAutoFit/>
          </a:bodyPr>
          <a:lstStyle/>
          <a:p>
            <a:r>
              <a:rPr lang="en-US" sz="2800" dirty="0">
                <a:solidFill>
                  <a:schemeClr val="tx1">
                    <a:lumMod val="50000"/>
                  </a:schemeClr>
                </a:solidFill>
              </a:rPr>
              <a:t>Add spectrum</a:t>
            </a:r>
            <a:endParaRPr lang="fr-FR" sz="2400" dirty="0">
              <a:solidFill>
                <a:schemeClr val="tx1">
                  <a:lumMod val="50000"/>
                </a:schemeClr>
              </a:solidFill>
            </a:endParaRPr>
          </a:p>
        </p:txBody>
      </p:sp>
      <p:sp>
        <p:nvSpPr>
          <p:cNvPr id="9" name="TextBox 8">
            <a:extLst>
              <a:ext uri="{FF2B5EF4-FFF2-40B4-BE49-F238E27FC236}">
                <a16:creationId xmlns:a16="http://schemas.microsoft.com/office/drawing/2014/main" id="{4CEA0950-A8DB-4D81-8C68-3CE7C10EB24D}"/>
              </a:ext>
            </a:extLst>
          </p:cNvPr>
          <p:cNvSpPr txBox="1"/>
          <p:nvPr/>
        </p:nvSpPr>
        <p:spPr>
          <a:xfrm>
            <a:off x="331969" y="860071"/>
            <a:ext cx="6216732" cy="2523768"/>
          </a:xfrm>
          <a:prstGeom prst="rect">
            <a:avLst/>
          </a:prstGeom>
          <a:noFill/>
        </p:spPr>
        <p:txBody>
          <a:bodyPr wrap="square">
            <a:spAutoFit/>
          </a:bodyPr>
          <a:lstStyle/>
          <a:p>
            <a:r>
              <a:rPr lang="en-US" sz="3200" dirty="0">
                <a:solidFill>
                  <a:schemeClr val="accent5"/>
                </a:solidFill>
                <a:latin typeface="+mn-lt"/>
              </a:rPr>
              <a:t>Data reduction &amp; Remove noise</a:t>
            </a:r>
          </a:p>
          <a:p>
            <a:pPr algn="just"/>
            <a:r>
              <a:rPr lang="en-US" dirty="0">
                <a:solidFill>
                  <a:srgbClr val="456487"/>
                </a:solidFill>
                <a:latin typeface="+mn-lt"/>
              </a:rPr>
              <a:t>For continuation of the analysis data reduction is possible, it is recommended to cut spectra for interested part and also reduction data to sqrt or log (don’t worry, later on data will be plot as there was no reduction, it is needed just to better background reduction)</a:t>
            </a:r>
          </a:p>
          <a:p>
            <a:pPr algn="just"/>
            <a:r>
              <a:rPr lang="en-US" dirty="0">
                <a:solidFill>
                  <a:srgbClr val="456487"/>
                </a:solidFill>
                <a:latin typeface="+mn-lt"/>
              </a:rPr>
              <a:t>If there is need the noise can be removed from the data by two options: moving-average and </a:t>
            </a:r>
            <a:r>
              <a:rPr lang="en-US" dirty="0" err="1">
                <a:solidFill>
                  <a:srgbClr val="456487"/>
                </a:solidFill>
                <a:latin typeface="+mn-lt"/>
              </a:rPr>
              <a:t>Savitzky-Golay</a:t>
            </a:r>
            <a:r>
              <a:rPr lang="en-US" dirty="0">
                <a:solidFill>
                  <a:srgbClr val="456487"/>
                </a:solidFill>
                <a:latin typeface="+mn-lt"/>
              </a:rPr>
              <a:t> filter.</a:t>
            </a:r>
          </a:p>
        </p:txBody>
      </p:sp>
      <p:pic>
        <p:nvPicPr>
          <p:cNvPr id="10" name="Picture 9">
            <a:extLst>
              <a:ext uri="{FF2B5EF4-FFF2-40B4-BE49-F238E27FC236}">
                <a16:creationId xmlns:a16="http://schemas.microsoft.com/office/drawing/2014/main" id="{A018CA4F-821F-41C6-9DF9-1D431CDE7538}"/>
              </a:ext>
            </a:extLst>
          </p:cNvPr>
          <p:cNvPicPr>
            <a:picLocks noChangeAspect="1"/>
          </p:cNvPicPr>
          <p:nvPr/>
        </p:nvPicPr>
        <p:blipFill>
          <a:blip r:embed="rId3"/>
          <a:stretch>
            <a:fillRect/>
          </a:stretch>
        </p:blipFill>
        <p:spPr>
          <a:xfrm>
            <a:off x="2178452" y="3621780"/>
            <a:ext cx="3201071" cy="2388678"/>
          </a:xfrm>
          <a:prstGeom prst="rect">
            <a:avLst/>
          </a:prstGeom>
        </p:spPr>
      </p:pic>
      <p:pic>
        <p:nvPicPr>
          <p:cNvPr id="12" name="Picture 11">
            <a:extLst>
              <a:ext uri="{FF2B5EF4-FFF2-40B4-BE49-F238E27FC236}">
                <a16:creationId xmlns:a16="http://schemas.microsoft.com/office/drawing/2014/main" id="{E9EB93ED-3D23-425C-A2AA-172E73D409AB}"/>
              </a:ext>
            </a:extLst>
          </p:cNvPr>
          <p:cNvPicPr>
            <a:picLocks noChangeAspect="1"/>
          </p:cNvPicPr>
          <p:nvPr/>
        </p:nvPicPr>
        <p:blipFill>
          <a:blip r:embed="rId4"/>
          <a:stretch>
            <a:fillRect/>
          </a:stretch>
        </p:blipFill>
        <p:spPr>
          <a:xfrm>
            <a:off x="5508242" y="4321601"/>
            <a:ext cx="3388726" cy="3401465"/>
          </a:xfrm>
          <a:prstGeom prst="rect">
            <a:avLst/>
          </a:prstGeom>
        </p:spPr>
      </p:pic>
    </p:spTree>
    <p:extLst>
      <p:ext uri="{BB962C8B-B14F-4D97-AF65-F5344CB8AC3E}">
        <p14:creationId xmlns:p14="http://schemas.microsoft.com/office/powerpoint/2010/main" val="597499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25D197-8ABD-4D61-B6C2-E05549A6FF97}"/>
              </a:ext>
            </a:extLst>
          </p:cNvPr>
          <p:cNvSpPr/>
          <p:nvPr/>
        </p:nvSpPr>
        <p:spPr>
          <a:xfrm>
            <a:off x="0" y="225632"/>
            <a:ext cx="12312732" cy="486887"/>
          </a:xfrm>
          <a:prstGeom prst="rect">
            <a:avLst/>
          </a:prstGeom>
          <a:gradFill flip="none" rotWithShape="1">
            <a:gsLst>
              <a:gs pos="62000">
                <a:srgbClr val="68C3F5"/>
              </a:gs>
              <a:gs pos="36000">
                <a:srgbClr val="4C9BE8"/>
              </a:gs>
              <a:gs pos="0">
                <a:srgbClr val="2B3E50"/>
              </a:gs>
              <a:gs pos="82000">
                <a:srgbClr val="F3F3F3"/>
              </a:gs>
              <a:gs pos="100000">
                <a:srgbClr val="F3F3F3"/>
              </a:gs>
            </a:gsLst>
            <a:lin ang="108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5">
            <a:extLst>
              <a:ext uri="{FF2B5EF4-FFF2-40B4-BE49-F238E27FC236}">
                <a16:creationId xmlns:a16="http://schemas.microsoft.com/office/drawing/2014/main" id="{0E09D0EC-CE3C-4AD1-B0C2-81D92DA800C8}"/>
              </a:ext>
            </a:extLst>
          </p:cNvPr>
          <p:cNvPicPr>
            <a:picLocks noChangeAspect="1"/>
          </p:cNvPicPr>
          <p:nvPr/>
        </p:nvPicPr>
        <p:blipFill>
          <a:blip r:embed="rId2"/>
          <a:stretch>
            <a:fillRect/>
          </a:stretch>
        </p:blipFill>
        <p:spPr>
          <a:xfrm>
            <a:off x="0" y="225632"/>
            <a:ext cx="331969" cy="486887"/>
          </a:xfrm>
          <a:prstGeom prst="rect">
            <a:avLst/>
          </a:prstGeom>
        </p:spPr>
      </p:pic>
      <p:sp>
        <p:nvSpPr>
          <p:cNvPr id="7" name="TextBox 6">
            <a:extLst>
              <a:ext uri="{FF2B5EF4-FFF2-40B4-BE49-F238E27FC236}">
                <a16:creationId xmlns:a16="http://schemas.microsoft.com/office/drawing/2014/main" id="{D8FF38E6-BB8F-4B3B-8DFF-FE6D420ADF81}"/>
              </a:ext>
            </a:extLst>
          </p:cNvPr>
          <p:cNvSpPr txBox="1"/>
          <p:nvPr/>
        </p:nvSpPr>
        <p:spPr>
          <a:xfrm>
            <a:off x="331969" y="189299"/>
            <a:ext cx="4905049" cy="523220"/>
          </a:xfrm>
          <a:prstGeom prst="rect">
            <a:avLst/>
          </a:prstGeom>
          <a:noFill/>
        </p:spPr>
        <p:txBody>
          <a:bodyPr wrap="square" rtlCol="0">
            <a:spAutoFit/>
          </a:bodyPr>
          <a:lstStyle/>
          <a:p>
            <a:r>
              <a:rPr lang="en-US" sz="2800" dirty="0">
                <a:solidFill>
                  <a:schemeClr val="tx1">
                    <a:lumMod val="50000"/>
                  </a:schemeClr>
                </a:solidFill>
              </a:rPr>
              <a:t>Add spectrum</a:t>
            </a:r>
            <a:endParaRPr lang="fr-FR" sz="2400" dirty="0">
              <a:solidFill>
                <a:schemeClr val="tx1">
                  <a:lumMod val="50000"/>
                </a:schemeClr>
              </a:solidFill>
            </a:endParaRPr>
          </a:p>
        </p:txBody>
      </p:sp>
      <p:sp>
        <p:nvSpPr>
          <p:cNvPr id="8" name="TextBox 7">
            <a:extLst>
              <a:ext uri="{FF2B5EF4-FFF2-40B4-BE49-F238E27FC236}">
                <a16:creationId xmlns:a16="http://schemas.microsoft.com/office/drawing/2014/main" id="{741BA737-2218-4CF3-8F49-FD66F9565351}"/>
              </a:ext>
            </a:extLst>
          </p:cNvPr>
          <p:cNvSpPr txBox="1"/>
          <p:nvPr/>
        </p:nvSpPr>
        <p:spPr>
          <a:xfrm>
            <a:off x="331969" y="930509"/>
            <a:ext cx="10866193" cy="1569660"/>
          </a:xfrm>
          <a:prstGeom prst="rect">
            <a:avLst/>
          </a:prstGeom>
          <a:noFill/>
        </p:spPr>
        <p:txBody>
          <a:bodyPr wrap="square">
            <a:spAutoFit/>
          </a:bodyPr>
          <a:lstStyle/>
          <a:p>
            <a:pPr algn="ctr"/>
            <a:r>
              <a:rPr lang="en-US" sz="3200" dirty="0">
                <a:solidFill>
                  <a:schemeClr val="accent5"/>
                </a:solidFill>
                <a:latin typeface="+mn-lt"/>
              </a:rPr>
              <a:t>Next step is </a:t>
            </a:r>
            <a:r>
              <a:rPr lang="en-US" sz="3200" b="1" dirty="0">
                <a:solidFill>
                  <a:schemeClr val="accent5"/>
                </a:solidFill>
                <a:latin typeface="+mn-lt"/>
              </a:rPr>
              <a:t>background removal </a:t>
            </a:r>
            <a:r>
              <a:rPr lang="en-US" sz="3200" dirty="0">
                <a:solidFill>
                  <a:schemeClr val="accent5"/>
                </a:solidFill>
                <a:latin typeface="+mn-lt"/>
              </a:rPr>
              <a:t>with wavelet method.</a:t>
            </a:r>
          </a:p>
          <a:p>
            <a:pPr algn="ctr"/>
            <a:r>
              <a:rPr lang="en-US" sz="3200" dirty="0">
                <a:solidFill>
                  <a:schemeClr val="accent5"/>
                </a:solidFill>
                <a:latin typeface="+mn-lt"/>
              </a:rPr>
              <a:t>The user can choose from five families of wavelet and than </a:t>
            </a:r>
          </a:p>
          <a:p>
            <a:pPr algn="ctr"/>
            <a:r>
              <a:rPr lang="en-US" sz="3200" dirty="0">
                <a:solidFill>
                  <a:schemeClr val="accent5"/>
                </a:solidFill>
                <a:latin typeface="+mn-lt"/>
              </a:rPr>
              <a:t>specify name and also level of wavelet.</a:t>
            </a:r>
          </a:p>
        </p:txBody>
      </p:sp>
      <p:pic>
        <p:nvPicPr>
          <p:cNvPr id="9" name="Picture 8">
            <a:extLst>
              <a:ext uri="{FF2B5EF4-FFF2-40B4-BE49-F238E27FC236}">
                <a16:creationId xmlns:a16="http://schemas.microsoft.com/office/drawing/2014/main" id="{5A55679F-01B0-4AA6-BAFB-AA0BC4A10BC3}"/>
              </a:ext>
            </a:extLst>
          </p:cNvPr>
          <p:cNvPicPr>
            <a:picLocks noChangeAspect="1"/>
          </p:cNvPicPr>
          <p:nvPr/>
        </p:nvPicPr>
        <p:blipFill>
          <a:blip r:embed="rId3"/>
          <a:stretch>
            <a:fillRect/>
          </a:stretch>
        </p:blipFill>
        <p:spPr>
          <a:xfrm>
            <a:off x="553435" y="2493638"/>
            <a:ext cx="10423259" cy="6294281"/>
          </a:xfrm>
          <a:prstGeom prst="rect">
            <a:avLst/>
          </a:prstGeom>
        </p:spPr>
      </p:pic>
      <p:sp>
        <p:nvSpPr>
          <p:cNvPr id="10" name="Rectangle 9">
            <a:extLst>
              <a:ext uri="{FF2B5EF4-FFF2-40B4-BE49-F238E27FC236}">
                <a16:creationId xmlns:a16="http://schemas.microsoft.com/office/drawing/2014/main" id="{3B07653B-2D9B-4EA7-AF67-10EDA8319CFD}"/>
              </a:ext>
            </a:extLst>
          </p:cNvPr>
          <p:cNvSpPr/>
          <p:nvPr/>
        </p:nvSpPr>
        <p:spPr>
          <a:xfrm>
            <a:off x="724395" y="5640779"/>
            <a:ext cx="2149434" cy="1389413"/>
          </a:xfrm>
          <a:prstGeom prst="rect">
            <a:avLst/>
          </a:prstGeom>
          <a:noFill/>
          <a:ln w="38100">
            <a:solidFill>
              <a:schemeClr val="accent5">
                <a:lumMod val="75000"/>
              </a:schemeClr>
            </a:solidFill>
          </a:ln>
          <a:effectLst>
            <a:glow rad="635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Arrow: Down 10">
            <a:extLst>
              <a:ext uri="{FF2B5EF4-FFF2-40B4-BE49-F238E27FC236}">
                <a16:creationId xmlns:a16="http://schemas.microsoft.com/office/drawing/2014/main" id="{A8F5F040-AED5-424D-8C5C-D4FFBE7D8C7B}"/>
              </a:ext>
            </a:extLst>
          </p:cNvPr>
          <p:cNvSpPr/>
          <p:nvPr/>
        </p:nvSpPr>
        <p:spPr>
          <a:xfrm rot="10800000">
            <a:off x="1454761" y="7175611"/>
            <a:ext cx="688701" cy="12471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8228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25D197-8ABD-4D61-B6C2-E05549A6FF97}"/>
              </a:ext>
            </a:extLst>
          </p:cNvPr>
          <p:cNvSpPr/>
          <p:nvPr/>
        </p:nvSpPr>
        <p:spPr>
          <a:xfrm>
            <a:off x="0" y="225632"/>
            <a:ext cx="12312732" cy="486887"/>
          </a:xfrm>
          <a:prstGeom prst="rect">
            <a:avLst/>
          </a:prstGeom>
          <a:gradFill flip="none" rotWithShape="1">
            <a:gsLst>
              <a:gs pos="62000">
                <a:srgbClr val="68C3F5"/>
              </a:gs>
              <a:gs pos="36000">
                <a:srgbClr val="4C9BE8"/>
              </a:gs>
              <a:gs pos="0">
                <a:srgbClr val="2B3E50"/>
              </a:gs>
              <a:gs pos="82000">
                <a:srgbClr val="F3F3F3"/>
              </a:gs>
              <a:gs pos="100000">
                <a:srgbClr val="F3F3F3"/>
              </a:gs>
            </a:gsLst>
            <a:lin ang="108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5">
            <a:extLst>
              <a:ext uri="{FF2B5EF4-FFF2-40B4-BE49-F238E27FC236}">
                <a16:creationId xmlns:a16="http://schemas.microsoft.com/office/drawing/2014/main" id="{0E09D0EC-CE3C-4AD1-B0C2-81D92DA800C8}"/>
              </a:ext>
            </a:extLst>
          </p:cNvPr>
          <p:cNvPicPr>
            <a:picLocks noChangeAspect="1"/>
          </p:cNvPicPr>
          <p:nvPr/>
        </p:nvPicPr>
        <p:blipFill>
          <a:blip r:embed="rId2"/>
          <a:stretch>
            <a:fillRect/>
          </a:stretch>
        </p:blipFill>
        <p:spPr>
          <a:xfrm>
            <a:off x="0" y="225632"/>
            <a:ext cx="331969" cy="486887"/>
          </a:xfrm>
          <a:prstGeom prst="rect">
            <a:avLst/>
          </a:prstGeom>
        </p:spPr>
      </p:pic>
      <p:sp>
        <p:nvSpPr>
          <p:cNvPr id="7" name="TextBox 6">
            <a:extLst>
              <a:ext uri="{FF2B5EF4-FFF2-40B4-BE49-F238E27FC236}">
                <a16:creationId xmlns:a16="http://schemas.microsoft.com/office/drawing/2014/main" id="{D8FF38E6-BB8F-4B3B-8DFF-FE6D420ADF81}"/>
              </a:ext>
            </a:extLst>
          </p:cNvPr>
          <p:cNvSpPr txBox="1"/>
          <p:nvPr/>
        </p:nvSpPr>
        <p:spPr>
          <a:xfrm>
            <a:off x="331969" y="189299"/>
            <a:ext cx="5059428" cy="523220"/>
          </a:xfrm>
          <a:prstGeom prst="rect">
            <a:avLst/>
          </a:prstGeom>
          <a:noFill/>
        </p:spPr>
        <p:txBody>
          <a:bodyPr wrap="square" rtlCol="0">
            <a:spAutoFit/>
          </a:bodyPr>
          <a:lstStyle/>
          <a:p>
            <a:r>
              <a:rPr lang="fr-FR" sz="2800" dirty="0" err="1">
                <a:solidFill>
                  <a:schemeClr val="tx1">
                    <a:lumMod val="50000"/>
                  </a:schemeClr>
                </a:solidFill>
              </a:rPr>
              <a:t>Multispectra</a:t>
            </a:r>
            <a:r>
              <a:rPr lang="fr-FR" sz="2800" dirty="0">
                <a:solidFill>
                  <a:schemeClr val="tx1">
                    <a:lumMod val="50000"/>
                  </a:schemeClr>
                </a:solidFill>
              </a:rPr>
              <a:t> </a:t>
            </a:r>
            <a:r>
              <a:rPr lang="fr-FR" sz="2800" dirty="0" err="1">
                <a:solidFill>
                  <a:schemeClr val="tx1">
                    <a:lumMod val="50000"/>
                  </a:schemeClr>
                </a:solidFill>
              </a:rPr>
              <a:t>analysis</a:t>
            </a:r>
            <a:endParaRPr lang="fr-FR" sz="2800" dirty="0">
              <a:solidFill>
                <a:schemeClr val="tx1">
                  <a:lumMod val="50000"/>
                </a:schemeClr>
              </a:solidFill>
            </a:endParaRPr>
          </a:p>
        </p:txBody>
      </p:sp>
      <p:sp>
        <p:nvSpPr>
          <p:cNvPr id="8" name="TextBox 7">
            <a:extLst>
              <a:ext uri="{FF2B5EF4-FFF2-40B4-BE49-F238E27FC236}">
                <a16:creationId xmlns:a16="http://schemas.microsoft.com/office/drawing/2014/main" id="{E36908AB-D009-4F3F-973B-61E80794C2D3}"/>
              </a:ext>
            </a:extLst>
          </p:cNvPr>
          <p:cNvSpPr txBox="1"/>
          <p:nvPr/>
        </p:nvSpPr>
        <p:spPr>
          <a:xfrm>
            <a:off x="165983" y="955780"/>
            <a:ext cx="8241747" cy="2031325"/>
          </a:xfrm>
          <a:prstGeom prst="rect">
            <a:avLst/>
          </a:prstGeom>
          <a:noFill/>
        </p:spPr>
        <p:txBody>
          <a:bodyPr wrap="square">
            <a:spAutoFit/>
          </a:bodyPr>
          <a:lstStyle/>
          <a:p>
            <a:r>
              <a:rPr lang="en-US" dirty="0">
                <a:solidFill>
                  <a:schemeClr val="accent5"/>
                </a:solidFill>
              </a:rPr>
              <a:t>Earlier calibrated spectra are transferred automatically to multispectral analysis,</a:t>
            </a:r>
          </a:p>
          <a:p>
            <a:r>
              <a:rPr lang="en-US" dirty="0">
                <a:solidFill>
                  <a:schemeClr val="accent5"/>
                </a:solidFill>
              </a:rPr>
              <a:t>And thus it is possible to make background removal in the same time for all of spectra, in multispectral analysis it is possible to make data reduction </a:t>
            </a:r>
          </a:p>
          <a:p>
            <a:r>
              <a:rPr lang="en-US" dirty="0">
                <a:solidFill>
                  <a:schemeClr val="accent5"/>
                </a:solidFill>
              </a:rPr>
              <a:t>(the same as for one spectrum analysis) for cut data range and make a log or sqrt from function, later on wavelet analysis can be done for background removal.</a:t>
            </a:r>
          </a:p>
          <a:p>
            <a:r>
              <a:rPr lang="en-US" dirty="0">
                <a:solidFill>
                  <a:schemeClr val="accent5"/>
                </a:solidFill>
              </a:rPr>
              <a:t>The code automatically are sending </a:t>
            </a:r>
            <a:r>
              <a:rPr lang="en-US" dirty="0" err="1">
                <a:solidFill>
                  <a:schemeClr val="accent5"/>
                </a:solidFill>
              </a:rPr>
              <a:t>analized</a:t>
            </a:r>
            <a:r>
              <a:rPr lang="en-US" dirty="0">
                <a:solidFill>
                  <a:schemeClr val="accent5"/>
                </a:solidFill>
              </a:rPr>
              <a:t> </a:t>
            </a:r>
          </a:p>
          <a:p>
            <a:r>
              <a:rPr lang="en-US" dirty="0">
                <a:solidFill>
                  <a:schemeClr val="accent5"/>
                </a:solidFill>
              </a:rPr>
              <a:t>spectra to Angular scan option.</a:t>
            </a:r>
          </a:p>
        </p:txBody>
      </p:sp>
      <p:pic>
        <p:nvPicPr>
          <p:cNvPr id="5" name="Picture 4">
            <a:extLst>
              <a:ext uri="{FF2B5EF4-FFF2-40B4-BE49-F238E27FC236}">
                <a16:creationId xmlns:a16="http://schemas.microsoft.com/office/drawing/2014/main" id="{4129FEDF-E918-41C1-A1D2-ACBFC1E57BE3}"/>
              </a:ext>
            </a:extLst>
          </p:cNvPr>
          <p:cNvPicPr>
            <a:picLocks noChangeAspect="1"/>
          </p:cNvPicPr>
          <p:nvPr/>
        </p:nvPicPr>
        <p:blipFill>
          <a:blip r:embed="rId3"/>
          <a:stretch>
            <a:fillRect/>
          </a:stretch>
        </p:blipFill>
        <p:spPr>
          <a:xfrm>
            <a:off x="4971039" y="2766952"/>
            <a:ext cx="6695053" cy="4204142"/>
          </a:xfrm>
          <a:prstGeom prst="rect">
            <a:avLst/>
          </a:prstGeom>
        </p:spPr>
      </p:pic>
      <p:pic>
        <p:nvPicPr>
          <p:cNvPr id="10" name="Picture 9">
            <a:extLst>
              <a:ext uri="{FF2B5EF4-FFF2-40B4-BE49-F238E27FC236}">
                <a16:creationId xmlns:a16="http://schemas.microsoft.com/office/drawing/2014/main" id="{2433D95D-ABBB-40D7-A329-C128244936B6}"/>
              </a:ext>
            </a:extLst>
          </p:cNvPr>
          <p:cNvPicPr>
            <a:picLocks noChangeAspect="1"/>
          </p:cNvPicPr>
          <p:nvPr/>
        </p:nvPicPr>
        <p:blipFill>
          <a:blip r:embed="rId4"/>
          <a:stretch>
            <a:fillRect/>
          </a:stretch>
        </p:blipFill>
        <p:spPr>
          <a:xfrm>
            <a:off x="0" y="7101424"/>
            <a:ext cx="12192000" cy="2006950"/>
          </a:xfrm>
          <a:prstGeom prst="rect">
            <a:avLst/>
          </a:prstGeom>
        </p:spPr>
      </p:pic>
    </p:spTree>
    <p:extLst>
      <p:ext uri="{BB962C8B-B14F-4D97-AF65-F5344CB8AC3E}">
        <p14:creationId xmlns:p14="http://schemas.microsoft.com/office/powerpoint/2010/main" val="1651631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25D197-8ABD-4D61-B6C2-E05549A6FF97}"/>
              </a:ext>
            </a:extLst>
          </p:cNvPr>
          <p:cNvSpPr/>
          <p:nvPr/>
        </p:nvSpPr>
        <p:spPr>
          <a:xfrm>
            <a:off x="0" y="225632"/>
            <a:ext cx="12312732" cy="486887"/>
          </a:xfrm>
          <a:prstGeom prst="rect">
            <a:avLst/>
          </a:prstGeom>
          <a:gradFill flip="none" rotWithShape="1">
            <a:gsLst>
              <a:gs pos="62000">
                <a:srgbClr val="68C3F5"/>
              </a:gs>
              <a:gs pos="36000">
                <a:srgbClr val="4C9BE8"/>
              </a:gs>
              <a:gs pos="0">
                <a:srgbClr val="2B3E50"/>
              </a:gs>
              <a:gs pos="82000">
                <a:srgbClr val="F3F3F3"/>
              </a:gs>
              <a:gs pos="100000">
                <a:srgbClr val="F3F3F3"/>
              </a:gs>
            </a:gsLst>
            <a:lin ang="10800000" scaled="1"/>
            <a:tileRect/>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6" name="Picture 5">
            <a:extLst>
              <a:ext uri="{FF2B5EF4-FFF2-40B4-BE49-F238E27FC236}">
                <a16:creationId xmlns:a16="http://schemas.microsoft.com/office/drawing/2014/main" id="{0E09D0EC-CE3C-4AD1-B0C2-81D92DA800C8}"/>
              </a:ext>
            </a:extLst>
          </p:cNvPr>
          <p:cNvPicPr>
            <a:picLocks noChangeAspect="1"/>
          </p:cNvPicPr>
          <p:nvPr/>
        </p:nvPicPr>
        <p:blipFill>
          <a:blip r:embed="rId2"/>
          <a:stretch>
            <a:fillRect/>
          </a:stretch>
        </p:blipFill>
        <p:spPr>
          <a:xfrm>
            <a:off x="0" y="225632"/>
            <a:ext cx="331969" cy="486887"/>
          </a:xfrm>
          <a:prstGeom prst="rect">
            <a:avLst/>
          </a:prstGeom>
        </p:spPr>
      </p:pic>
      <p:sp>
        <p:nvSpPr>
          <p:cNvPr id="7" name="TextBox 6">
            <a:extLst>
              <a:ext uri="{FF2B5EF4-FFF2-40B4-BE49-F238E27FC236}">
                <a16:creationId xmlns:a16="http://schemas.microsoft.com/office/drawing/2014/main" id="{D8FF38E6-BB8F-4B3B-8DFF-FE6D420ADF81}"/>
              </a:ext>
            </a:extLst>
          </p:cNvPr>
          <p:cNvSpPr txBox="1"/>
          <p:nvPr/>
        </p:nvSpPr>
        <p:spPr>
          <a:xfrm>
            <a:off x="331969" y="220267"/>
            <a:ext cx="3159376" cy="523220"/>
          </a:xfrm>
          <a:prstGeom prst="rect">
            <a:avLst/>
          </a:prstGeom>
          <a:noFill/>
        </p:spPr>
        <p:txBody>
          <a:bodyPr wrap="square" rtlCol="0">
            <a:spAutoFit/>
          </a:bodyPr>
          <a:lstStyle/>
          <a:p>
            <a:r>
              <a:rPr lang="fr-FR" sz="2800" dirty="0" err="1">
                <a:solidFill>
                  <a:schemeClr val="tx1">
                    <a:lumMod val="50000"/>
                  </a:schemeClr>
                </a:solidFill>
              </a:rPr>
              <a:t>Angular</a:t>
            </a:r>
            <a:r>
              <a:rPr lang="fr-FR" sz="2800" dirty="0">
                <a:solidFill>
                  <a:schemeClr val="tx1">
                    <a:lumMod val="50000"/>
                  </a:schemeClr>
                </a:solidFill>
              </a:rPr>
              <a:t> scan</a:t>
            </a:r>
          </a:p>
        </p:txBody>
      </p:sp>
      <p:pic>
        <p:nvPicPr>
          <p:cNvPr id="10" name="Picture 9">
            <a:extLst>
              <a:ext uri="{FF2B5EF4-FFF2-40B4-BE49-F238E27FC236}">
                <a16:creationId xmlns:a16="http://schemas.microsoft.com/office/drawing/2014/main" id="{2399DE9B-FB93-4A65-89D5-CAF5162233A9}"/>
              </a:ext>
            </a:extLst>
          </p:cNvPr>
          <p:cNvPicPr>
            <a:picLocks noChangeAspect="1"/>
          </p:cNvPicPr>
          <p:nvPr/>
        </p:nvPicPr>
        <p:blipFill>
          <a:blip r:embed="rId3"/>
          <a:stretch>
            <a:fillRect/>
          </a:stretch>
        </p:blipFill>
        <p:spPr>
          <a:xfrm>
            <a:off x="6768935" y="2982144"/>
            <a:ext cx="5077221" cy="3188851"/>
          </a:xfrm>
          <a:prstGeom prst="rect">
            <a:avLst/>
          </a:prstGeom>
        </p:spPr>
      </p:pic>
      <p:pic>
        <p:nvPicPr>
          <p:cNvPr id="8" name="Picture 7">
            <a:extLst>
              <a:ext uri="{FF2B5EF4-FFF2-40B4-BE49-F238E27FC236}">
                <a16:creationId xmlns:a16="http://schemas.microsoft.com/office/drawing/2014/main" id="{DF09E4F0-89A7-44A8-8626-38C651F93202}"/>
              </a:ext>
            </a:extLst>
          </p:cNvPr>
          <p:cNvPicPr>
            <a:picLocks noChangeAspect="1"/>
          </p:cNvPicPr>
          <p:nvPr/>
        </p:nvPicPr>
        <p:blipFill>
          <a:blip r:embed="rId4"/>
          <a:stretch>
            <a:fillRect/>
          </a:stretch>
        </p:blipFill>
        <p:spPr>
          <a:xfrm>
            <a:off x="337339" y="4790172"/>
            <a:ext cx="6169908" cy="3990351"/>
          </a:xfrm>
          <a:prstGeom prst="rect">
            <a:avLst/>
          </a:prstGeom>
        </p:spPr>
      </p:pic>
      <p:sp>
        <p:nvSpPr>
          <p:cNvPr id="12" name="TextBox 11">
            <a:extLst>
              <a:ext uri="{FF2B5EF4-FFF2-40B4-BE49-F238E27FC236}">
                <a16:creationId xmlns:a16="http://schemas.microsoft.com/office/drawing/2014/main" id="{214FEDB6-C918-4F9C-8F4E-057779AF12CB}"/>
              </a:ext>
            </a:extLst>
          </p:cNvPr>
          <p:cNvSpPr txBox="1"/>
          <p:nvPr/>
        </p:nvSpPr>
        <p:spPr>
          <a:xfrm>
            <a:off x="290515" y="1047786"/>
            <a:ext cx="6216732" cy="2862322"/>
          </a:xfrm>
          <a:prstGeom prst="rect">
            <a:avLst/>
          </a:prstGeom>
          <a:noFill/>
        </p:spPr>
        <p:txBody>
          <a:bodyPr wrap="square">
            <a:spAutoFit/>
          </a:bodyPr>
          <a:lstStyle/>
          <a:p>
            <a:r>
              <a:rPr lang="en-US" dirty="0">
                <a:solidFill>
                  <a:schemeClr val="tx2">
                    <a:lumMod val="10000"/>
                  </a:schemeClr>
                </a:solidFill>
              </a:rPr>
              <a:t>Pixek integrated counting from selected energy range for previously analyzed  spectra. In PIXE/C counting the calculation can be done also with normalization to random calculation. Please note that this option is possible only when random spectra was added as name R. Analysis is made for </a:t>
            </a:r>
            <a:r>
              <a:rPr lang="en-US" dirty="0" err="1">
                <a:solidFill>
                  <a:schemeClr val="tx2">
                    <a:lumMod val="10000"/>
                  </a:schemeClr>
                </a:solidFill>
              </a:rPr>
              <a:t>choosen</a:t>
            </a:r>
            <a:r>
              <a:rPr lang="en-US" dirty="0">
                <a:solidFill>
                  <a:schemeClr val="tx2">
                    <a:lumMod val="10000"/>
                  </a:schemeClr>
                </a:solidFill>
              </a:rPr>
              <a:t> angles and later on data can be saved with chosen name. This date with the same name as was declared for file name are sent to angular scan option.</a:t>
            </a:r>
          </a:p>
          <a:p>
            <a:endParaRPr lang="en-US" dirty="0">
              <a:solidFill>
                <a:schemeClr val="tx2">
                  <a:lumMod val="10000"/>
                </a:schemeClr>
              </a:solidFill>
            </a:endParaRPr>
          </a:p>
          <a:p>
            <a:endParaRPr lang="fr-FR" dirty="0">
              <a:solidFill>
                <a:schemeClr val="tx2">
                  <a:lumMod val="10000"/>
                </a:schemeClr>
              </a:solidFill>
            </a:endParaRPr>
          </a:p>
        </p:txBody>
      </p:sp>
    </p:spTree>
    <p:extLst>
      <p:ext uri="{BB962C8B-B14F-4D97-AF65-F5344CB8AC3E}">
        <p14:creationId xmlns:p14="http://schemas.microsoft.com/office/powerpoint/2010/main" val="13177825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anded">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Banded">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nded">
      <a:fillStyleLst>
        <a:solidFill>
          <a:schemeClr val="phClr"/>
        </a:solidFill>
        <a:gradFill rotWithShape="1">
          <a:gsLst>
            <a:gs pos="0">
              <a:schemeClr val="phClr">
                <a:tint val="65000"/>
                <a:satMod val="120000"/>
                <a:lumMod val="107000"/>
              </a:schemeClr>
            </a:gs>
            <a:gs pos="50000">
              <a:schemeClr val="phClr">
                <a:tint val="70000"/>
                <a:satMod val="124000"/>
                <a:lumMod val="103000"/>
              </a:schemeClr>
            </a:gs>
            <a:gs pos="100000">
              <a:schemeClr val="phClr">
                <a:tint val="85000"/>
                <a:satMod val="120000"/>
                <a:lumMod val="100000"/>
              </a:schemeClr>
            </a:gs>
          </a:gsLst>
          <a:lin ang="5400000" scaled="0"/>
        </a:gradFill>
        <a:gradFill rotWithShape="1">
          <a:gsLst>
            <a:gs pos="0">
              <a:schemeClr val="phClr">
                <a:tint val="85000"/>
                <a:shade val="98000"/>
                <a:satMod val="110000"/>
                <a:lumMod val="103000"/>
              </a:schemeClr>
            </a:gs>
            <a:gs pos="50000">
              <a:schemeClr val="phClr">
                <a:shade val="85000"/>
                <a:satMod val="105000"/>
                <a:lumMod val="100000"/>
              </a:schemeClr>
            </a:gs>
            <a:gs pos="100000">
              <a:schemeClr val="phClr">
                <a:shade val="60000"/>
                <a:satMod val="12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15875" dir="5400000" algn="ctr" rotWithShape="0">
              <a:srgbClr val="000000">
                <a:alpha val="68000"/>
              </a:srgbClr>
            </a:outerShdw>
          </a:effectLst>
        </a:effectStyle>
        <a:effectStyle>
          <a:effectLst>
            <a:outerShdw blurRad="88900" dist="27940" dir="5400000" algn="ctr" rotWithShape="0">
              <a:srgbClr val="000000">
                <a:alpha val="63000"/>
              </a:srgbClr>
            </a:outerShdw>
          </a:effectLst>
        </a:effectStyle>
      </a:effectStyleLst>
      <a:bgFillStyleLst>
        <a:solidFill>
          <a:schemeClr val="phClr"/>
        </a:solidFill>
        <a:blipFill rotWithShape="1">
          <a:blip xmlns:r="http://schemas.openxmlformats.org/officeDocument/2006/relationships" r:embed="rId1">
            <a:duotone>
              <a:schemeClr val="phClr"/>
              <a:schemeClr val="phClr">
                <a:shade val="91000"/>
                <a:satMod val="105000"/>
              </a:schemeClr>
            </a:duotone>
          </a:blip>
          <a:tile tx="0" ty="0" sx="100000" sy="100000" flip="none" algn="tl"/>
        </a:blipFill>
        <a:gradFill rotWithShape="1">
          <a:gsLst>
            <a:gs pos="0">
              <a:schemeClr val="phClr">
                <a:tint val="100000"/>
                <a:shade val="0"/>
                <a:satMod val="100000"/>
              </a:schemeClr>
            </a:gs>
            <a:gs pos="100000">
              <a:schemeClr val="phClr">
                <a:shade val="10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Banded" id="{98DFF888-2449-4D28-977C-6306C017633E}" vid="{9792607F-9579-4224-82FF-9C88C3E1E53D}"/>
    </a:ext>
  </a:extLst>
</a:theme>
</file>

<file path=docProps/app.xml><?xml version="1.0" encoding="utf-8"?>
<Properties xmlns="http://schemas.openxmlformats.org/officeDocument/2006/extended-properties" xmlns:vt="http://schemas.openxmlformats.org/officeDocument/2006/docPropsVTypes">
  <Template/>
  <TotalTime>240</TotalTime>
  <Words>857</Words>
  <Application>Microsoft Office PowerPoint</Application>
  <PresentationFormat>Custom</PresentationFormat>
  <Paragraphs>65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Corbel</vt:lpstr>
      <vt:lpstr>OpenSans</vt:lpstr>
      <vt:lpstr>Wingdings</vt:lpstr>
      <vt:lpstr>Banded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Ewelina KUCAL</dc:creator>
  <cp:lastModifiedBy>Ewelina KUCAL</cp:lastModifiedBy>
  <cp:revision>11</cp:revision>
  <dcterms:created xsi:type="dcterms:W3CDTF">2025-11-18T10:45:14Z</dcterms:created>
  <dcterms:modified xsi:type="dcterms:W3CDTF">2025-11-18T14:45:14Z</dcterms:modified>
</cp:coreProperties>
</file>